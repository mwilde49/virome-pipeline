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88952" cy="17373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DRG Virome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9C74F"/>
                </a:solidFill>
                <a:latin typeface="Calibri"/>
              </a:rPr>
              <a:t>Cohort Evolution: Start to Finish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2578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TJP Group · UT Dallas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DRG Virome Pipeline v1.5.0
10 cohorts · 112 ganglion samples · 2 tissue types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Cohort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C74F"/>
                </a:solidFill>
                <a:latin typeface="Calibri"/>
              </a:rPr>
              <a:t>All pipeline runs · final data only · non-contiguous cohort numbers reflect registry order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" y="868680"/>
            <a:ext cx="11612880" cy="460644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9144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91440"/>
            <a:ext cx="411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Muscle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C74F"/>
                </a:solidFill>
                <a:latin typeface="Calibri"/>
              </a:rPr>
              <a:t>Skeletal muscle  ·  n=5  ·  v1.0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3749039" cy="5943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914400"/>
            <a:ext cx="54864" cy="59436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" y="1078992"/>
            <a:ext cx="1005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alibri"/>
              </a:rPr>
              <a:t>Samples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" y="1280160"/>
            <a:ext cx="3474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Sample_19–23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" y="1700784"/>
            <a:ext cx="1005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alibri"/>
              </a:rPr>
              <a:t>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" y="1901952"/>
            <a:ext cx="3474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" y="2322576"/>
            <a:ext cx="1005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alibri"/>
              </a:rPr>
              <a:t>Tissue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" y="2523744"/>
            <a:ext cx="3474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Skeletal muscle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" y="2944368"/>
            <a:ext cx="1005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alibri"/>
              </a:rPr>
              <a:t>Library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" y="3145536"/>
            <a:ext cx="3474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PolyA, 150 bp 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" y="3566160"/>
            <a:ext cx="1005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alibri"/>
              </a:rPr>
              <a:t>Sequencer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" y="3767328"/>
            <a:ext cx="3474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Illumina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" y="4187952"/>
            <a:ext cx="1005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alibri"/>
              </a:rPr>
              <a:t>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" y="4389120"/>
            <a:ext cx="3474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v1.0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" y="4809744"/>
            <a:ext cx="1005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alibri"/>
              </a:rPr>
              <a:t>Virus Detected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" y="5010912"/>
            <a:ext cx="3474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None detected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9601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86AB"/>
                </a:solidFill>
                <a:latin typeface="Calibri"/>
              </a:rPr>
              <a:t>Key Findings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1417320"/>
            <a:ext cx="80467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0"/>
              </a:lnSpc>
            </a:pPr>
            <a:r>
              <a:rPr sz="1350" b="0">
                <a:solidFill>
                  <a:srgbClr val="1A1A2E"/>
                </a:solidFill>
                <a:latin typeface="Calibri"/>
              </a:rPr>
              <a:t>  •  Pipeline baseline run — first cohort processed end-to-end</a:t>
            </a:r>
          </a:p>
          <a:p>
            <a:pPr algn="l">
              <a:lnSpc>
                <a:spcPts val="14000"/>
              </a:lnSpc>
            </a:pPr>
            <a:r>
              <a:rPr sz="1350" b="0">
                <a:solidFill>
                  <a:srgbClr val="1A1A2E"/>
                </a:solidFill>
                <a:latin typeface="Calibri"/>
              </a:rPr>
              <a:t>  •  Established artifact exclusion list (k-mer cross-mapping from ruminant/insect viruses)</a:t>
            </a:r>
          </a:p>
          <a:p>
            <a:pPr algn="l">
              <a:lnSpc>
                <a:spcPts val="14000"/>
              </a:lnSpc>
            </a:pPr>
            <a:r>
              <a:rPr sz="1350" b="0">
                <a:solidFill>
                  <a:srgbClr val="1A1A2E"/>
                </a:solidFill>
                <a:latin typeface="Calibri"/>
              </a:rPr>
              <a:t>  •  HERV-K detected at low level (mean 31.3 RPM); confirmed pan-sample signal</a:t>
            </a:r>
          </a:p>
          <a:p>
            <a:pPr algn="l">
              <a:lnSpc>
                <a:spcPts val="14000"/>
              </a:lnSpc>
            </a:pPr>
            <a:r>
              <a:rPr sz="1350" b="0">
                <a:solidFill>
                  <a:srgbClr val="1A1A2E"/>
                </a:solidFill>
                <a:latin typeface="Calibri"/>
              </a:rPr>
              <a:t>  •  No human pathogens; clean tissue as expected for skeletal muscle</a:t>
            </a:r>
          </a:p>
          <a:p>
            <a:pPr algn="l">
              <a:lnSpc>
                <a:spcPts val="14000"/>
              </a:lnSpc>
            </a:pPr>
            <a:r>
              <a:rPr sz="1350" b="0">
                <a:solidFill>
                  <a:srgbClr val="1A1A2E"/>
                </a:solidFill>
                <a:latin typeface="Calibri"/>
              </a:rPr>
              <a:t>  •  Saad_1 equivalent: no QC outliers in this cohort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" y="665683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DRG Virome Pipeline  ·  Cohort 1 of 10  ·  TJP Group UT Dallas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9144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91440"/>
            <a:ext cx="411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Early DRG (Donor1 · AIG1390 · Saad)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C74F"/>
                </a:solidFill>
                <a:latin typeface="Calibri"/>
              </a:rPr>
              <a:t>DRG (post-mortem)  ·  n=16  ·  v1.0–1.2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3749039" cy="5943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914400"/>
            <a:ext cx="54864" cy="59436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" y="1078992"/>
            <a:ext cx="1005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alibri"/>
              </a:rPr>
              <a:t>Samples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" y="1280160"/>
            <a:ext cx="3474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donor1_L1–L5/T12, AIG1390_L1–L4/T12, Saad_1–5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" y="1700784"/>
            <a:ext cx="1005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alibri"/>
              </a:rPr>
              <a:t>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" y="1901952"/>
            <a:ext cx="3474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" y="2322576"/>
            <a:ext cx="1005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alibri"/>
              </a:rPr>
              <a:t>Tissue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" y="2523744"/>
            <a:ext cx="3474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DRG (post-mortem)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" y="2944368"/>
            <a:ext cx="1005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alibri"/>
              </a:rPr>
              <a:t>Library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" y="3145536"/>
            <a:ext cx="3474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PolyA, 150 bp 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" y="3566160"/>
            <a:ext cx="1005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alibri"/>
              </a:rPr>
              <a:t>Sequencer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" y="3767328"/>
            <a:ext cx="3474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Illumina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" y="4187952"/>
            <a:ext cx="1005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alibri"/>
              </a:rPr>
              <a:t>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" y="4389120"/>
            <a:ext cx="3474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v1.0–1.2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" y="4809744"/>
            <a:ext cx="1005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alibri"/>
              </a:rPr>
              <a:t>Virus Detected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" y="5010912"/>
            <a:ext cx="3474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HERV-K (all), HHV-5 proxy (subset)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9601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9688"/>
                </a:solidFill>
                <a:latin typeface="Calibri"/>
              </a:rPr>
              <a:t>Key Findings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1417320"/>
            <a:ext cx="80467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0"/>
              </a:lnSpc>
            </a:pPr>
            <a:r>
              <a:rPr sz="1350" b="0">
                <a:solidFill>
                  <a:srgbClr val="1A1A2E"/>
                </a:solidFill>
                <a:latin typeface="Calibri"/>
              </a:rPr>
              <a:t>  •  Three donors, multi-level sampling (L1–L5/T12) — first DRG virome profiles</a:t>
            </a:r>
          </a:p>
          <a:p>
            <a:pPr algn="l">
              <a:lnSpc>
                <a:spcPts val="14000"/>
              </a:lnSpc>
            </a:pPr>
            <a:r>
              <a:rPr sz="1350" b="0">
                <a:solidFill>
                  <a:srgbClr val="1A1A2E"/>
                </a:solidFill>
                <a:latin typeface="Calibri"/>
              </a:rPr>
              <a:t>  •  HERV-K confirmed as pan-sample DRG signal; forms baseline for all future cohorts</a:t>
            </a:r>
          </a:p>
          <a:p>
            <a:pPr algn="l">
              <a:lnSpc>
                <a:spcPts val="14000"/>
              </a:lnSpc>
            </a:pPr>
            <a:r>
              <a:rPr sz="1350" b="0">
                <a:solidFill>
                  <a:srgbClr val="1A1A2E"/>
                </a:solidFill>
                <a:latin typeface="Calibri"/>
              </a:rPr>
              <a:t>  •  HHV-5 proxy (Cytomegalovirus papiinebeta3 → remapped to 'Human CMV [HHV-5] proxy')</a:t>
            </a:r>
          </a:p>
          <a:p>
            <a:pPr algn="l">
              <a:lnSpc>
                <a:spcPts val="14000"/>
              </a:lnSpc>
            </a:pPr>
            <a:r>
              <a:rPr sz="1350" b="0">
                <a:solidFill>
                  <a:srgbClr val="1A1A2E"/>
                </a:solidFill>
                <a:latin typeface="Calibri"/>
              </a:rPr>
              <a:t>  •  Saad_1: QC outlier — 10× sequencing depth, extreme contamination profile; retained for pipeline assessment</a:t>
            </a:r>
          </a:p>
          <a:p>
            <a:pPr algn="l">
              <a:lnSpc>
                <a:spcPts val="14000"/>
              </a:lnSpc>
            </a:pPr>
            <a:r>
              <a:rPr sz="1350" b="0">
                <a:solidFill>
                  <a:srgbClr val="1A1A2E"/>
                </a:solidFill>
                <a:latin typeface="Calibri"/>
              </a:rPr>
              <a:t>  •  Saad_2: known library failure — retained for QC characterization</a:t>
            </a:r>
          </a:p>
          <a:p>
            <a:pPr algn="l">
              <a:lnSpc>
                <a:spcPts val="14000"/>
              </a:lnSpc>
            </a:pPr>
            <a:r>
              <a:rPr sz="1350" b="0">
                <a:solidFill>
                  <a:srgbClr val="1A1A2E"/>
                </a:solidFill>
                <a:latin typeface="Calibri"/>
              </a:rPr>
              <a:t>  •  Taxon display-name remapping (taxon_remap.tsv) introduced to address misleading NCBI labels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" y="665683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DRG Virome Pipeline  ·  Cohort 2 of 10  ·  TJP Group UT Dallas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914400"/>
          </a:xfrm>
          <a:prstGeom prst="rect">
            <a:avLst/>
          </a:prstGeom>
          <a:solidFill>
            <a:srgbClr val="3BB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91440"/>
            <a:ext cx="411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REJOIN Jayden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C74F"/>
                </a:solidFill>
                <a:latin typeface="Calibri"/>
              </a:rPr>
              <a:t>DRG (post-mortem)  ·  n=17  ·  v1.2–1.3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3749039" cy="5943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914400"/>
            <a:ext cx="54864" cy="5943600"/>
          </a:xfrm>
          <a:prstGeom prst="rect">
            <a:avLst/>
          </a:prstGeom>
          <a:solidFill>
            <a:srgbClr val="3BB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" y="1078992"/>
            <a:ext cx="1005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alibri"/>
              </a:rPr>
              <a:t>Samples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" y="1280160"/>
            <a:ext cx="3474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473-1 – 473-17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" y="1700784"/>
            <a:ext cx="1005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alibri"/>
              </a:rPr>
              <a:t>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" y="1901952"/>
            <a:ext cx="3474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" y="2322576"/>
            <a:ext cx="1005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alibri"/>
              </a:rPr>
              <a:t>Tissue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" y="2523744"/>
            <a:ext cx="3474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DRG (post-mortem)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" y="2944368"/>
            <a:ext cx="1005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alibri"/>
              </a:rPr>
              <a:t>Library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" y="3145536"/>
            <a:ext cx="3474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PolyA, 150 bp 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" y="3566160"/>
            <a:ext cx="1005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alibri"/>
              </a:rPr>
              <a:t>Sequencer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" y="3767328"/>
            <a:ext cx="3474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Illumina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" y="4187952"/>
            <a:ext cx="1005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alibri"/>
              </a:rPr>
              <a:t>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" y="4389120"/>
            <a:ext cx="3474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v1.2–1.3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" y="4809744"/>
            <a:ext cx="1005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alibri"/>
              </a:rPr>
              <a:t>Virus Detected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" y="5010912"/>
            <a:ext cx="3474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HERV-K (all), HHV-5 proxy (subset)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9601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B273"/>
                </a:solidFill>
                <a:latin typeface="Calibri"/>
              </a:rPr>
              <a:t>Key Findings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1417320"/>
            <a:ext cx="80467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0"/>
              </a:lnSpc>
            </a:pPr>
            <a:r>
              <a:rPr sz="1350" b="0">
                <a:solidFill>
                  <a:srgbClr val="1A1A2E"/>
                </a:solidFill>
                <a:latin typeface="Calibri"/>
              </a:rPr>
              <a:t>  •  17-sample REJOIN cohort; completes the 38-sample full cohort used for Paper 1</a:t>
            </a:r>
          </a:p>
          <a:p>
            <a:pPr algn="l">
              <a:lnSpc>
                <a:spcPts val="14000"/>
              </a:lnSpc>
            </a:pPr>
            <a:r>
              <a:rPr sz="1350" b="0">
                <a:solidFill>
                  <a:srgbClr val="1A1A2E"/>
                </a:solidFill>
                <a:latin typeface="Calibri"/>
              </a:rPr>
              <a:t>  •  Paper 1 analysis: all_cohort_pluspf run consolidates cohorts 1–5</a:t>
            </a:r>
          </a:p>
          <a:p>
            <a:pPr algn="l">
              <a:lnSpc>
                <a:spcPts val="14000"/>
              </a:lnSpc>
            </a:pPr>
            <a:r>
              <a:rPr sz="1350" b="0">
                <a:solidFill>
                  <a:srgbClr val="1A1A2E"/>
                </a:solidFill>
                <a:latin typeface="Calibri"/>
              </a:rPr>
              <a:t>  •  Dual-database framework (v1.3) introduced: viral-only DB + PlusPF DB in parallel</a:t>
            </a:r>
          </a:p>
          <a:p>
            <a:pPr algn="l">
              <a:lnSpc>
                <a:spcPts val="14000"/>
              </a:lnSpc>
            </a:pPr>
            <a:r>
              <a:rPr sz="1350" b="0">
                <a:solidFill>
                  <a:srgbClr val="1A1A2E"/>
                </a:solidFill>
                <a:latin typeface="Calibri"/>
              </a:rPr>
              <a:t>  •  Three-tier output: Tier 1 (both DBs agree), Tier 2 (viral-only only), Tier 3 (PlusPF only)</a:t>
            </a:r>
          </a:p>
          <a:p>
            <a:pPr algn="l">
              <a:lnSpc>
                <a:spcPts val="14000"/>
              </a:lnSpc>
            </a:pPr>
            <a:r>
              <a:rPr sz="1350" b="0">
                <a:solidFill>
                  <a:srgbClr val="1A1A2E"/>
                </a:solidFill>
                <a:latin typeface="Calibri"/>
              </a:rPr>
              <a:t>  •  No novel human pathogens; HERV-K and CMV proxy confirmed across cohort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3BB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" y="665683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DRG Virome Pipeline  ·  Cohort 5 of 10  ·  TJP Group UT Dallas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914400"/>
          </a:xfrm>
          <a:prstGeom prst="rect">
            <a:avLst/>
          </a:prstGeom>
          <a:solidFill>
            <a:srgbClr val="E84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91440"/>
            <a:ext cx="411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Parkinson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C74F"/>
                </a:solidFill>
                <a:latin typeface="Calibri"/>
              </a:rPr>
              <a:t>DRG (post-mortem)  ·  n=20  ·  v1.5.0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3749039" cy="5943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914400"/>
            <a:ext cx="54864" cy="5943600"/>
          </a:xfrm>
          <a:prstGeom prst="rect">
            <a:avLst/>
          </a:prstGeom>
          <a:solidFill>
            <a:srgbClr val="E84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" y="1078992"/>
            <a:ext cx="1005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alibri"/>
              </a:rPr>
              <a:t>Samples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" y="1280160"/>
            <a:ext cx="3474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PD2–PD20, 023–028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" y="1700784"/>
            <a:ext cx="1005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alibri"/>
              </a:rPr>
              <a:t>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" y="1901952"/>
            <a:ext cx="3474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" y="2322576"/>
            <a:ext cx="1005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alibri"/>
              </a:rPr>
              <a:t>Tissue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" y="2523744"/>
            <a:ext cx="3474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DRG (post-mortem)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" y="2944368"/>
            <a:ext cx="1005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alibri"/>
              </a:rPr>
              <a:t>Library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" y="3145536"/>
            <a:ext cx="3474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PolyA, 150 bp 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" y="3566160"/>
            <a:ext cx="1005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alibri"/>
              </a:rPr>
              <a:t>Sequencer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" y="3767328"/>
            <a:ext cx="3474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Illumina (Psomagen AN00028264)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" y="4187952"/>
            <a:ext cx="1005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alibri"/>
              </a:rPr>
              <a:t>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" y="4389120"/>
            <a:ext cx="3474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v1.5.0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" y="4809744"/>
            <a:ext cx="1005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alibri"/>
              </a:rPr>
              <a:t>Virus Detected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" y="5010912"/>
            <a:ext cx="3474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HSV-1 Tier 1 (PD19), HERV-K (all), HHV-5 proxy (subset)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9601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4855"/>
                </a:solidFill>
                <a:latin typeface="Calibri"/>
              </a:rPr>
              <a:t>Key Findings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1417320"/>
            <a:ext cx="80467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0"/>
              </a:lnSpc>
            </a:pPr>
            <a:r>
              <a:rPr sz="1350" b="0">
                <a:solidFill>
                  <a:srgbClr val="1A1A2E"/>
                </a:solidFill>
                <a:latin typeface="Calibri"/>
              </a:rPr>
              <a:t>  •  14 Parkinson's disease patients + 6 non-PD controls; sequenced by Psomagen</a:t>
            </a:r>
          </a:p>
          <a:p>
            <a:pPr algn="l">
              <a:lnSpc>
                <a:spcPts val="14000"/>
              </a:lnSpc>
            </a:pPr>
            <a:r>
              <a:rPr sz="1350" b="0">
                <a:solidFill>
                  <a:srgbClr val="1A1A2E"/>
                </a:solidFill>
                <a:latin typeface="Calibri"/>
              </a:rPr>
              <a:t>  •  PD19: first-ever HSV-1 Tier 1 detection in the dataset — landmark finding</a:t>
            </a:r>
          </a:p>
          <a:p>
            <a:pPr algn="l">
              <a:lnSpc>
                <a:spcPts val="14000"/>
              </a:lnSpc>
            </a:pPr>
            <a:r>
              <a:rPr sz="1350" b="0">
                <a:solidFill>
                  <a:srgbClr val="1A1A2E"/>
                </a:solidFill>
                <a:latin typeface="Calibri"/>
              </a:rPr>
              <a:t>  •  PD1/7/8/11/12/13 absent from sequencing delivery (not run)</a:t>
            </a:r>
          </a:p>
          <a:p>
            <a:pPr algn="l">
              <a:lnSpc>
                <a:spcPts val="14000"/>
              </a:lnSpc>
            </a:pPr>
            <a:r>
              <a:rPr sz="1350" b="0">
                <a:solidFill>
                  <a:srgbClr val="1A1A2E"/>
                </a:solidFill>
                <a:latin typeface="Calibri"/>
              </a:rPr>
              <a:t>  •  No significant HERV-K difference between PD cases and controls (p=0.397)</a:t>
            </a:r>
          </a:p>
          <a:p>
            <a:pPr algn="l">
              <a:lnSpc>
                <a:spcPts val="14000"/>
              </a:lnSpc>
            </a:pPr>
            <a:r>
              <a:rPr sz="1350" b="0">
                <a:solidFill>
                  <a:srgbClr val="1A1A2E"/>
                </a:solidFill>
                <a:latin typeface="Calibri"/>
              </a:rPr>
              <a:t>  •  Dual-database validation: HSV-1 in PD19 confirmed Tier 1 (both DBs agree)</a:t>
            </a:r>
          </a:p>
          <a:p>
            <a:pPr algn="l">
              <a:lnSpc>
                <a:spcPts val="14000"/>
              </a:lnSpc>
            </a:pPr>
            <a:r>
              <a:rPr sz="1350" b="0">
                <a:solidFill>
                  <a:srgbClr val="1A1A2E"/>
                </a:solidFill>
                <a:latin typeface="Calibri"/>
              </a:rPr>
              <a:t>  •  Triggered blast_verify.nf offshoot to confirm identity and latency phase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E84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" y="665683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DRG Virome Pipeline  ·  Cohort 6 of 10  ·  TJP Group UT Dallas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9144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91440"/>
            <a:ext cx="411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BLAST Verify PD19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C74F"/>
                </a:solidFill>
                <a:latin typeface="Calibri"/>
              </a:rPr>
              <a:t>DRG (post-mortem)  ·  n=1  ·  v1.5.0 (blast_verify.nf)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3749039" cy="5943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914400"/>
            <a:ext cx="54864" cy="5943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" y="1078992"/>
            <a:ext cx="1005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alibri"/>
              </a:rPr>
              <a:t>Samples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" y="1280160"/>
            <a:ext cx="3474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PD19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" y="1700784"/>
            <a:ext cx="1005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alibri"/>
              </a:rPr>
              <a:t>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" y="1901952"/>
            <a:ext cx="3474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" y="2322576"/>
            <a:ext cx="1005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alibri"/>
              </a:rPr>
              <a:t>Tissue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" y="2523744"/>
            <a:ext cx="3474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DRG (post-mortem)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" y="2944368"/>
            <a:ext cx="1005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alibri"/>
              </a:rPr>
              <a:t>Library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" y="3145536"/>
            <a:ext cx="3474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PolyA, 150 bp 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" y="3566160"/>
            <a:ext cx="1005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alibri"/>
              </a:rPr>
              <a:t>Sequencer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" y="3767328"/>
            <a:ext cx="3474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Illumina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" y="4187952"/>
            <a:ext cx="1005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alibri"/>
              </a:rPr>
              <a:t>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" y="4389120"/>
            <a:ext cx="3474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v1.5.0 (blast_verify.nf)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" y="4809744"/>
            <a:ext cx="1005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alibri"/>
              </a:rPr>
              <a:t>Virus Detected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" y="5010912"/>
            <a:ext cx="3474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HSV-1 confirmed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9601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7C00"/>
                </a:solidFill>
                <a:latin typeface="Calibri"/>
              </a:rPr>
              <a:t>Key Findings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1417320"/>
            <a:ext cx="80467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0"/>
              </a:lnSpc>
            </a:pPr>
            <a:r>
              <a:rPr sz="1350" b="0">
                <a:solidFill>
                  <a:srgbClr val="1A1A2E"/>
                </a:solidFill>
                <a:latin typeface="Calibri"/>
              </a:rPr>
              <a:t>  •  Offshoot pipeline (blast_verify.nf) — post-hoc re-analysis of PD19</a:t>
            </a:r>
          </a:p>
          <a:p>
            <a:pPr algn="l">
              <a:lnSpc>
                <a:spcPts val="14000"/>
              </a:lnSpc>
            </a:pPr>
            <a:r>
              <a:rPr sz="1350" b="0">
                <a:solidFill>
                  <a:srgbClr val="1A1A2E"/>
                </a:solidFill>
                <a:latin typeface="Calibri"/>
              </a:rPr>
              <a:t>  •  Extracted Kraken2-assigned HSV-1 reads → BLAST against NCBI nt database</a:t>
            </a:r>
          </a:p>
          <a:p>
            <a:pPr algn="l">
              <a:lnSpc>
                <a:spcPts val="14000"/>
              </a:lnSpc>
            </a:pPr>
            <a:r>
              <a:rPr sz="1350" b="0">
                <a:solidFill>
                  <a:srgbClr val="1A1A2E"/>
                </a:solidFill>
                <a:latin typeface="Calibri"/>
              </a:rPr>
              <a:t>  •  Confirmed identity: Human herpesvirus 1 (NC_001806.2), &gt;98% identity</a:t>
            </a:r>
          </a:p>
          <a:p>
            <a:pPr algn="l">
              <a:lnSpc>
                <a:spcPts val="14000"/>
              </a:lnSpc>
            </a:pPr>
            <a:r>
              <a:rPr sz="1350" b="0">
                <a:solidFill>
                  <a:srgbClr val="1A1A2E"/>
                </a:solidFill>
                <a:latin typeface="Calibri"/>
              </a:rPr>
              <a:t>  •  Read distribution consistent with latency: enriched at LAT locus</a:t>
            </a:r>
          </a:p>
          <a:p>
            <a:pPr algn="l">
              <a:lnSpc>
                <a:spcPts val="14000"/>
              </a:lnSpc>
            </a:pPr>
            <a:r>
              <a:rPr sz="1350" b="0">
                <a:solidFill>
                  <a:srgbClr val="1A1A2E"/>
                </a:solidFill>
                <a:latin typeface="Calibri"/>
              </a:rPr>
              <a:t>  •  Established blast_verify.nf as reusable module for future Tier 1 candidates</a:t>
            </a:r>
          </a:p>
          <a:p>
            <a:pPr algn="l">
              <a:lnSpc>
                <a:spcPts val="14000"/>
              </a:lnSpc>
            </a:pPr>
            <a:r>
              <a:rPr sz="1350" b="0">
                <a:solidFill>
                  <a:srgbClr val="1A1A2E"/>
                </a:solidFill>
                <a:latin typeface="Calibri"/>
              </a:rPr>
              <a:t>  •  save_kraken2_output and save_unmapped_reads params added to main pipeline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" y="665683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DRG Virome Pipeline  ·  Cohort 7 of 10  ·  TJP Group UT Dallas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91440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91440"/>
            <a:ext cx="411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Iadorola TG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C74F"/>
                </a:solidFill>
                <a:latin typeface="Calibri"/>
              </a:rPr>
              <a:t>Trigeminal ganglion (post-mortem)  ·  n=16  ·  v1.5.0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3749039" cy="5943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914400"/>
            <a:ext cx="54864" cy="594360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" y="1078992"/>
            <a:ext cx="1005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alibri"/>
              </a:rPr>
              <a:t>Samples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" y="1280160"/>
            <a:ext cx="3474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TG1–TG22 (non-contiguous)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" y="1700784"/>
            <a:ext cx="1005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alibri"/>
              </a:rPr>
              <a:t>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" y="1901952"/>
            <a:ext cx="3474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" y="2322576"/>
            <a:ext cx="1005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alibri"/>
              </a:rPr>
              <a:t>Tissue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" y="2523744"/>
            <a:ext cx="3474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Trigeminal ganglion (post-mortem)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" y="2944368"/>
            <a:ext cx="1005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alibri"/>
              </a:rPr>
              <a:t>Library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" y="3145536"/>
            <a:ext cx="3474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Total RNA, 125 bp 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" y="3566160"/>
            <a:ext cx="1005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alibri"/>
              </a:rPr>
              <a:t>Sequencer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" y="3767328"/>
            <a:ext cx="3474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Illumina HiSeq 2500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" y="4187952"/>
            <a:ext cx="1005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alibri"/>
              </a:rPr>
              <a:t>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" y="4389120"/>
            <a:ext cx="3474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v1.5.0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" y="4809744"/>
            <a:ext cx="1005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alibri"/>
              </a:rPr>
              <a:t>Virus Detected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" y="5010912"/>
            <a:ext cx="3474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HSV-1 Tier 1 (5/16), HERV-K (all), HHV-5 proxy (subset)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9601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B2D8B"/>
                </a:solidFill>
                <a:latin typeface="Calibri"/>
              </a:rPr>
              <a:t>Key Findings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1417320"/>
            <a:ext cx="80467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0"/>
              </a:lnSpc>
            </a:pPr>
            <a:r>
              <a:rPr sz="1350" b="0">
                <a:solidFill>
                  <a:srgbClr val="1A1A2E"/>
                </a:solidFill>
                <a:latin typeface="Calibri"/>
              </a:rPr>
              <a:t>  •  Public dataset (LaPaglia et al. 2017, SRP113004) — pipeline validation benchmark</a:t>
            </a:r>
          </a:p>
          <a:p>
            <a:pPr algn="l">
              <a:lnSpc>
                <a:spcPts val="14000"/>
              </a:lnSpc>
            </a:pPr>
            <a:r>
              <a:rPr sz="1350" b="0">
                <a:solidFill>
                  <a:srgbClr val="1A1A2E"/>
                </a:solidFill>
                <a:latin typeface="Calibri"/>
              </a:rPr>
              <a:t>  •  HSV-1 detected in 5/16 samples: exact match to published results</a:t>
            </a:r>
          </a:p>
          <a:p>
            <a:pPr algn="l">
              <a:lnSpc>
                <a:spcPts val="14000"/>
              </a:lnSpc>
            </a:pPr>
            <a:r>
              <a:rPr sz="1350" b="0">
                <a:solidFill>
                  <a:srgbClr val="1A1A2E"/>
                </a:solidFill>
                <a:latin typeface="Calibri"/>
              </a:rPr>
              <a:t>  •  Two high-level samples (TG12: 14.7 RPM, TG3: 12.5 RPM) match paper's 'two high-level' report</a:t>
            </a:r>
          </a:p>
          <a:p>
            <a:pPr algn="l">
              <a:lnSpc>
                <a:spcPts val="14000"/>
              </a:lnSpc>
            </a:pPr>
            <a:r>
              <a:rPr sz="1350" b="0">
                <a:solidFill>
                  <a:srgbClr val="1A1A2E"/>
                </a:solidFill>
                <a:latin typeface="Calibri"/>
              </a:rPr>
              <a:t>  •  6th seropositive sample missed by both our pipeline and MAGIC — consistent non-detection</a:t>
            </a:r>
          </a:p>
          <a:p>
            <a:pPr algn="l">
              <a:lnSpc>
                <a:spcPts val="14000"/>
              </a:lnSpc>
            </a:pPr>
            <a:r>
              <a:rPr sz="1350" b="0">
                <a:solidFill>
                  <a:srgbClr val="1A1A2E"/>
                </a:solidFill>
                <a:latin typeface="Calibri"/>
              </a:rPr>
              <a:t>  •  Linear regression: HERV-K ~ HSV-1 RPM, R²=0.459, p=0.0039 (novel finding)</a:t>
            </a:r>
          </a:p>
          <a:p>
            <a:pPr algn="l">
              <a:lnSpc>
                <a:spcPts val="14000"/>
              </a:lnSpc>
            </a:pPr>
            <a:r>
              <a:rPr sz="1350" b="0">
                <a:solidFill>
                  <a:srgbClr val="1A1A2E"/>
                </a:solidFill>
                <a:latin typeface="Calibri"/>
              </a:rPr>
              <a:t>  •  VZV absent across all samples — consistent with known low LAT expression in TG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" y="665683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DRG Virome Pipeline  ·  Cohort 8 of 10  ·  TJP Group UT Dallas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91440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91440"/>
            <a:ext cx="411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OSM Juliet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C74F"/>
                </a:solidFill>
                <a:latin typeface="Calibri"/>
              </a:rPr>
              <a:t>DRG (cultured, in vitro)  ·  n=18  ·  v1.5.0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3749039" cy="5943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914400"/>
            <a:ext cx="54864" cy="594360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" y="1078992"/>
            <a:ext cx="1005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alibri"/>
              </a:rPr>
              <a:t>Samples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" y="1280160"/>
            <a:ext cx="3474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D1–D3 × O/V × rep1–3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" y="1700784"/>
            <a:ext cx="1005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alibri"/>
              </a:rPr>
              <a:t>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" y="1901952"/>
            <a:ext cx="3474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" y="2322576"/>
            <a:ext cx="1005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alibri"/>
              </a:rPr>
              <a:t>Tissue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" y="2523744"/>
            <a:ext cx="3474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DRG (cultured, in vitro)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" y="2944368"/>
            <a:ext cx="1005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alibri"/>
              </a:rPr>
              <a:t>Library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" y="3145536"/>
            <a:ext cx="3474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PolyA, 150 bp 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" y="3566160"/>
            <a:ext cx="1005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alibri"/>
              </a:rPr>
              <a:t>Sequencer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" y="3767328"/>
            <a:ext cx="3474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Illumina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" y="4187952"/>
            <a:ext cx="1005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alibri"/>
              </a:rPr>
              <a:t>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" y="4389120"/>
            <a:ext cx="3474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v1.5.0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" y="4809744"/>
            <a:ext cx="1005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alibri"/>
              </a:rPr>
              <a:t>Virus Detected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" y="5010912"/>
            <a:ext cx="3474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HERV-K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9601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F"/>
                </a:solidFill>
                <a:latin typeface="Calibri"/>
              </a:rPr>
              <a:t>Key Findings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1417320"/>
            <a:ext cx="80467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0"/>
              </a:lnSpc>
            </a:pPr>
            <a:r>
              <a:rPr sz="1350" b="0">
                <a:solidFill>
                  <a:srgbClr val="1A1A2E"/>
                </a:solidFill>
                <a:latin typeface="Calibri"/>
              </a:rPr>
              <a:t>  •  3 donors × OSM vs vehicle × 3 replicates — first in vitro DRG cohort</a:t>
            </a:r>
          </a:p>
          <a:p>
            <a:pPr algn="l">
              <a:lnSpc>
                <a:spcPts val="14000"/>
              </a:lnSpc>
            </a:pPr>
            <a:r>
              <a:rPr sz="1350" b="0">
                <a:solidFill>
                  <a:srgbClr val="1A1A2E"/>
                </a:solidFill>
                <a:latin typeface="Calibri"/>
              </a:rPr>
              <a:t>  •  Clean virome: no human pathogens detected in any sample</a:t>
            </a:r>
          </a:p>
          <a:p>
            <a:pPr algn="l">
              <a:lnSpc>
                <a:spcPts val="14000"/>
              </a:lnSpc>
            </a:pPr>
            <a:r>
              <a:rPr sz="1350" b="0">
                <a:solidFill>
                  <a:srgbClr val="1A1A2E"/>
                </a:solidFill>
                <a:latin typeface="Calibri"/>
              </a:rPr>
              <a:t>  •  HERV-K significantly elevated vs all post-mortem cohorts (p&lt;0.001)</a:t>
            </a:r>
          </a:p>
          <a:p>
            <a:pPr algn="l">
              <a:lnSpc>
                <a:spcPts val="14000"/>
              </a:lnSpc>
            </a:pPr>
            <a:r>
              <a:rPr sz="1350" b="0">
                <a:solidFill>
                  <a:srgbClr val="1A1A2E"/>
                </a:solidFill>
                <a:latin typeface="Calibri"/>
              </a:rPr>
              <a:t>  •  OSM treatment has no effect on HERV-K (OSM vs vehicle p=0.791)</a:t>
            </a:r>
          </a:p>
          <a:p>
            <a:pPr algn="l">
              <a:lnSpc>
                <a:spcPts val="14000"/>
              </a:lnSpc>
            </a:pPr>
            <a:r>
              <a:rPr sz="1350" b="0">
                <a:solidFill>
                  <a:srgbClr val="1A1A2E"/>
                </a:solidFill>
                <a:latin typeface="Calibri"/>
              </a:rPr>
              <a:t>  •  Culture context itself drives HERV-K elevation — stress/passaging, not cytokine</a:t>
            </a:r>
          </a:p>
          <a:p>
            <a:pPr algn="l">
              <a:lnSpc>
                <a:spcPts val="14000"/>
              </a:lnSpc>
            </a:pPr>
            <a:r>
              <a:rPr sz="1350" b="0">
                <a:solidFill>
                  <a:srgbClr val="1A1A2E"/>
                </a:solidFill>
                <a:latin typeface="Calibri"/>
              </a:rPr>
              <a:t>  •  Confirms Gihfavirus/Kinglevirus as post-mortem DRG artifact (absent in culture)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" y="665683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DRG Virome Pipeline  ·  Cohort 9 of 10  ·  TJP Group UT Dallas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9144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91440"/>
            <a:ext cx="411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DPN &amp; RA Kulkarni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C74F"/>
                </a:solidFill>
                <a:latin typeface="Calibri"/>
              </a:rPr>
              <a:t>DRG (post-mortem)  ·  n=25  ·  v1.5.0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3749039" cy="5943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914400"/>
            <a:ext cx="54864" cy="59436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" y="1078992"/>
            <a:ext cx="1005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alibri"/>
              </a:rPr>
              <a:t>Samples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" y="1280160"/>
            <a:ext cx="3474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JE81, WE52, PA71, J1M2, T0M2, 2AC1, 1AN1, 8EN1, RO52, S1D1,
2OE1, N4N2, ME61, LE41, L1V1, FL0A2, FL0B1, 1VYA1, 1VYB2,
CA7A2, CA7B1, 4LIA1, 4LIB2, G1NA1, G1NB2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" y="1700784"/>
            <a:ext cx="1005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alibri"/>
              </a:rPr>
              <a:t>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" y="1901952"/>
            <a:ext cx="3474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" y="2322576"/>
            <a:ext cx="1005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alibri"/>
              </a:rPr>
              <a:t>Tissue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" y="2523744"/>
            <a:ext cx="3474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DRG (post-mortem)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" y="2944368"/>
            <a:ext cx="1005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alibri"/>
              </a:rPr>
              <a:t>Library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" y="3145536"/>
            <a:ext cx="3474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PolyA, 150 bp 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" y="3566160"/>
            <a:ext cx="1005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alibri"/>
              </a:rPr>
              <a:t>Sequencer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" y="3767328"/>
            <a:ext cx="3474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Illumina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" y="4187952"/>
            <a:ext cx="1005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alibri"/>
              </a:rPr>
              <a:t>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" y="4389120"/>
            <a:ext cx="3474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v1.5.0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" y="4809744"/>
            <a:ext cx="1005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alibri"/>
              </a:rPr>
              <a:t>Virus Detected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" y="5010912"/>
            <a:ext cx="3474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TBD (pipeline running)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9601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7474F"/>
                </a:solidFill>
                <a:latin typeface="Calibri"/>
              </a:rPr>
              <a:t>Key Findings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1417320"/>
            <a:ext cx="80467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0"/>
              </a:lnSpc>
            </a:pPr>
            <a:r>
              <a:rPr sz="1350" b="0">
                <a:solidFill>
                  <a:srgbClr val="1A1A2E"/>
                </a:solidFill>
                <a:latin typeface="Calibri"/>
              </a:rPr>
              <a:t>  •  10 shared healthy controls + 5 DPN cases + 10 RA specimens (5 donors × A/B)</a:t>
            </a:r>
          </a:p>
          <a:p>
            <a:pPr algn="l">
              <a:lnSpc>
                <a:spcPts val="14000"/>
              </a:lnSpc>
            </a:pPr>
            <a:r>
              <a:rPr sz="1350" b="0">
                <a:solidFill>
                  <a:srgbClr val="1A1A2E"/>
                </a:solidFill>
                <a:latin typeface="Calibri"/>
              </a:rPr>
              <a:t>  •  First disease-comparative DRG cohort: diabetic peripheral neuropathy vs rheumatoid arthritis</a:t>
            </a:r>
          </a:p>
          <a:p>
            <a:pPr algn="l">
              <a:lnSpc>
                <a:spcPts val="14000"/>
              </a:lnSpc>
            </a:pPr>
            <a:r>
              <a:rPr sz="1350" b="0">
                <a:solidFill>
                  <a:srgbClr val="1A1A2E"/>
                </a:solidFill>
                <a:latin typeface="Calibri"/>
              </a:rPr>
              <a:t>  •  A/B specimen designation unconfirmed (L/R DRG or technical replicates — to clarify)</a:t>
            </a:r>
          </a:p>
          <a:p>
            <a:pPr algn="l">
              <a:lnSpc>
                <a:spcPts val="14000"/>
              </a:lnSpc>
            </a:pPr>
            <a:r>
              <a:rPr sz="1350" b="0">
                <a:solidFill>
                  <a:srgbClr val="1A1A2E"/>
                </a:solidFill>
                <a:latin typeface="Calibri"/>
              </a:rPr>
              <a:t>  •  5 metadata donors without FASTQ files (M4X, L3O, J4N, M3L, T1F — separate batch)</a:t>
            </a:r>
          </a:p>
          <a:p>
            <a:pPr algn="l">
              <a:lnSpc>
                <a:spcPts val="14000"/>
              </a:lnSpc>
            </a:pPr>
            <a:r>
              <a:rPr sz="1350" b="0">
                <a:solidFill>
                  <a:srgbClr val="1A1A2E"/>
                </a:solidFill>
                <a:latin typeface="Calibri"/>
              </a:rPr>
              <a:t>  •  Pipeline currently running on Juno — results pending</a:t>
            </a:r>
          </a:p>
          <a:p>
            <a:pPr algn="l">
              <a:lnSpc>
                <a:spcPts val="14000"/>
              </a:lnSpc>
            </a:pPr>
            <a:r>
              <a:rPr sz="1350" b="0">
                <a:solidFill>
                  <a:srgbClr val="1A1A2E"/>
                </a:solidFill>
                <a:latin typeface="Calibri"/>
              </a:rPr>
              <a:t>  •  Will enable first cross-disease virome comparison in human sensory ganglia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" y="665683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DRG Virome Pipeline  ·  Cohort 10 of 10  ·  TJP Group UT Dallas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91440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91440"/>
            <a:ext cx="411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Cross-Cohort Analysis: HERV-K Expression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C74F"/>
                </a:solidFill>
                <a:latin typeface="Calibri"/>
              </a:rPr>
              <a:t>Kruskal-Wallis H=31.71, p=0.000002  ·  Pairwise Mann-Whitney with Bonferroni correction</a:t>
            </a:r>
          </a:p>
        </p:txBody>
      </p:sp>
      <p:pic>
        <p:nvPicPr>
          <p:cNvPr id="7" name="Picture 6" descr="hervk_cohor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772400" cy="53035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29600" y="1051560"/>
            <a:ext cx="3749039" cy="868680"/>
          </a:xfrm>
          <a:prstGeom prst="rect">
            <a:avLst/>
          </a:prstGeom>
          <a:solidFill>
            <a:srgbClr val="E8F4FD"/>
          </a:solidFill>
          <a:ln w="952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39327" y="1124712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OSM Juliet (cultured DRG) significantly
higher than all post-mortem cohorts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2039112"/>
            <a:ext cx="3749039" cy="868680"/>
          </a:xfrm>
          <a:prstGeom prst="rect">
            <a:avLst/>
          </a:prstGeom>
          <a:solidFill>
            <a:srgbClr val="E8F4FD"/>
          </a:solidFill>
          <a:ln w="952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9327" y="2112264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Effect is culture context, not OSM
treatment (OSM vs vehicle: p=0.79)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3026664"/>
            <a:ext cx="3749039" cy="868680"/>
          </a:xfrm>
          <a:prstGeom prst="rect">
            <a:avLst/>
          </a:prstGeom>
          <a:solidFill>
            <a:srgbClr val="E8F4FD"/>
          </a:solidFill>
          <a:ln w="952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9327" y="3099816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Post-mortem tissue consistent: Muscle,
PD DRG, TG statistically equivalent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4014216"/>
            <a:ext cx="3749039" cy="868680"/>
          </a:xfrm>
          <a:prstGeom prst="rect">
            <a:avLst/>
          </a:prstGeom>
          <a:solidFill>
            <a:srgbClr val="E8F4FD"/>
          </a:solidFill>
          <a:ln w="952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4087368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No HERV-K elevation in PD vs controls
(p=0.40) at current 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5001768"/>
            <a:ext cx="3749039" cy="868680"/>
          </a:xfrm>
          <a:prstGeom prst="rect">
            <a:avLst/>
          </a:prstGeom>
          <a:solidFill>
            <a:srgbClr val="E8F4FD"/>
          </a:solidFill>
          <a:ln w="952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7" y="507492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HERV-K &gt; 50 RPM → suspect in vitro
processing (QC anchor for new cohorts)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" y="665683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DRG Virome Pipeline  ·  Cross-cohort HERV-K analysis  ·  TJP Group UT Dallas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