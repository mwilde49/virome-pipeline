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14" y="2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7548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21031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511439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 dirty="0">
                <a:solidFill>
                  <a:srgbClr val="FFFFFF"/>
                </a:solidFill>
                <a:latin typeface="Calibri"/>
              </a:rPr>
              <a:t>Profiling the Human DRG </a:t>
            </a:r>
            <a:r>
              <a:rPr sz="4200" b="1" i="0" dirty="0" err="1">
                <a:solidFill>
                  <a:srgbClr val="FFFFFF"/>
                </a:solidFill>
                <a:latin typeface="Calibri"/>
              </a:rPr>
              <a:t>Virome</a:t>
            </a:r>
            <a:r>
              <a:rPr sz="4200" b="1" i="0" dirty="0">
                <a:solidFill>
                  <a:srgbClr val="FFFFFF"/>
                </a:solidFill>
                <a:latin typeface="Calibri"/>
              </a:rPr>
              <a:t>
from Bulk RNA-seq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29000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dirty="0">
                <a:solidFill>
                  <a:srgbClr val="CCCCCC"/>
                </a:solidFill>
                <a:latin typeface="Calibri"/>
              </a:rPr>
              <a:t>Michael</a:t>
            </a:r>
            <a:r>
              <a:rPr sz="1400" b="0" i="0" dirty="0">
                <a:solidFill>
                  <a:srgbClr val="CCCCCC"/>
                </a:solidFill>
                <a:latin typeface="Calibri"/>
              </a:rPr>
              <a:t> Wild</a:t>
            </a:r>
            <a:r>
              <a:rPr lang="en-US" sz="1400" b="0" i="0" dirty="0">
                <a:solidFill>
                  <a:srgbClr val="CCCCCC"/>
                </a:solidFill>
                <a:latin typeface="Calibri"/>
              </a:rPr>
              <a:t>e</a:t>
            </a:r>
            <a:r>
              <a:rPr sz="1400" b="0" i="0" dirty="0">
                <a:solidFill>
                  <a:srgbClr val="CCCCCC"/>
                </a:solidFill>
                <a:latin typeface="Calibri"/>
              </a:rPr>
              <a:t>  ·  </a:t>
            </a:r>
            <a:r>
              <a:rPr lang="en-US" sz="1400" b="0" i="0" dirty="0">
                <a:solidFill>
                  <a:srgbClr val="CCCCCC"/>
                </a:solidFill>
                <a:latin typeface="Calibri"/>
              </a:rPr>
              <a:t>CAPS </a:t>
            </a:r>
            <a:r>
              <a:rPr sz="1400" b="0" i="0" dirty="0">
                <a:solidFill>
                  <a:srgbClr val="CCCCCC"/>
                </a:solidFill>
                <a:latin typeface="Calibri"/>
              </a:rPr>
              <a:t>·  UT Dallas  ·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92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Outline: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①  Why — neurotropic viruses, the DRG, and an uncharacterized virome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052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②  How — dual-database competitive classification from existing RNA-seq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527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③  Results — two cohorts, 36 donors, and the first Tier 1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002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④  Future — compiling the lab's data, beginning with bulk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42032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B2D8B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 dirty="0">
                <a:solidFill>
                  <a:srgbClr val="FFFFFF"/>
                </a:solidFill>
                <a:latin typeface="Calibri"/>
              </a:rPr>
              <a:t>The DRG is a natural viral reservoir and nobody has systematically profiled 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Why look for viruses in the dorsal root ganglion?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Neurotropic viruses establish latency in sensory ganglia — and may drive pain long after acute infection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566160" cy="41148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1612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Biology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356616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1627632"/>
            <a:ext cx="32918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DRG = primary sensory neurons; gateway for all somatosensory input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VZV establishes latency in DRG — reactivation → shingles / PHN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HSV-1/2 latent in trigeminal &amp; sacral DRG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CMV, HHV-6 detected in neural tissue under immunosuppression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DRG has interferon-response satellite glial cells — constitutive immune surveillance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43000"/>
            <a:ext cx="3566160" cy="41148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1612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Clinical Need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554480"/>
            <a:ext cx="356616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6280" y="1627632"/>
            <a:ext cx="32918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No systematic profiling of the DRG virome has been reported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Viral triggers implicated in PHN, diabetic neuropathy, HIV neuropathy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HSV-1 linked to neurodegeneration (Parkinson's, Alzheimer's)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HERV-K transcriptional activation in ALS motor neurons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Antiviral therapy associated with reduced PD risk in registry studies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143000"/>
            <a:ext cx="3566160" cy="41148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11612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0" y="1554480"/>
            <a:ext cx="3566160" cy="43891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41080" y="1627632"/>
            <a:ext cx="3291840" cy="1946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en-US" sz="1200" dirty="0">
                <a:solidFill>
                  <a:srgbClr val="1A1A2E"/>
                </a:solidFill>
                <a:latin typeface="Calibri"/>
              </a:rPr>
              <a:t>The world’s largest (and objectively best) </a:t>
            </a:r>
            <a:r>
              <a:rPr sz="1200" dirty="0">
                <a:solidFill>
                  <a:srgbClr val="1A1A2E"/>
                </a:solidFill>
                <a:latin typeface="Calibri"/>
              </a:rPr>
              <a:t>Bulk RNA-seq from DRG already exists in this lab — 100–200 donors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Computational pipeline can screen all of it with one command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No new sequencing required for the first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virome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atlas pass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Establish baseline → compare disease cohorts → identify viral associations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The challenge: viral signal in a sea of host RNA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9E9E9E"/>
                </a:solidFill>
                <a:latin typeface="Calibri"/>
              </a:rPr>
              <a:t>Bulk RNA-seq is &gt;99.95% human — k-</a:t>
            </a:r>
            <a:r>
              <a:rPr sz="1400" b="0" i="1" dirty="0" err="1">
                <a:solidFill>
                  <a:srgbClr val="9E9E9E"/>
                </a:solidFill>
                <a:latin typeface="Calibri"/>
              </a:rPr>
              <a:t>mer</a:t>
            </a:r>
            <a:r>
              <a:rPr sz="1400" b="0" i="1" dirty="0">
                <a:solidFill>
                  <a:srgbClr val="9E9E9E"/>
                </a:solidFill>
                <a:latin typeface="Calibri"/>
              </a:rPr>
              <a:t> classifiers with viral-only DBs create systematic false positives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30352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Typical bulk RNA-seq library composition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737360"/>
            <a:ext cx="3200400" cy="4297680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A2E"/>
                </a:solidFill>
                <a:latin typeface="Calibri"/>
              </a:rPr>
              <a:t>Host (human)
~99.95% of reads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1737360"/>
            <a:ext cx="3200400" cy="201168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1947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84855"/>
                </a:solidFill>
                <a:latin typeface="Calibri"/>
              </a:rPr>
              <a:t>Viral reads: &lt;0.05%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188720"/>
            <a:ext cx="598932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89320" y="12344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Two failure modes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691640"/>
            <a:ext cx="5577840" cy="36576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80760" y="17099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Problem 1: Viral-only database — the closed-world assumption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103120"/>
            <a:ext cx="5577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No non-viral reference — every read must land somewhere viral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Human transcripts sharing k-mers with viral genomes → misassigned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HERVs, CMV k-mers, and neural lncRNAs are common offenders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Result: 100% false positive rate in our baseline cohort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89320" y="3931920"/>
            <a:ext cx="5577840" cy="36576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080760" y="39502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Problem 2: Sensitivity — latent viruses leave few traces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34340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VZV/HSV maintain latency with minimal transcription (LAT only)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Empirical detection floor: ~10 reads per taxon at 60–75M read depth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1A1A2E"/>
                </a:solidFill>
                <a:latin typeface="Calibri"/>
              </a:rPr>
              <a:t>▸ Below this, cannot distinguish signal from stochastic noise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42032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E86AB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  <a:latin typeface="Calibri"/>
              </a:rPr>
              <a:t>virome-pipeline: competitive dual-database classification from existing RNA-seq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Pipeline architecture — v1.5.0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7-step Nextflow DSL2 workflow + dual-database branch + BLAST verification offshoot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1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108" y="1104742"/>
            <a:ext cx="7150803" cy="55475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17710" y="653844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9E9E9E"/>
                </a:solidFill>
                <a:latin typeface="Calibri"/>
              </a:rPr>
              <a:t>All steps containerized (</a:t>
            </a:r>
            <a:r>
              <a:rPr sz="900" b="0" i="1" dirty="0" err="1">
                <a:solidFill>
                  <a:srgbClr val="9E9E9E"/>
                </a:solidFill>
                <a:latin typeface="Calibri"/>
              </a:rPr>
              <a:t>Apptainer</a:t>
            </a:r>
            <a:r>
              <a:rPr sz="900" b="0" i="1" dirty="0">
                <a:solidFill>
                  <a:srgbClr val="9E9E9E"/>
                </a:solidFill>
                <a:latin typeface="Calibri"/>
              </a:rPr>
              <a:t>) | SLURM-ready | Each process in its own .</a:t>
            </a:r>
            <a:r>
              <a:rPr sz="900" b="0" i="1" dirty="0" err="1">
                <a:solidFill>
                  <a:srgbClr val="9E9E9E"/>
                </a:solidFill>
                <a:latin typeface="Calibri"/>
              </a:rPr>
              <a:t>sif</a:t>
            </a:r>
            <a:r>
              <a:rPr sz="900" b="0" i="1" dirty="0">
                <a:solidFill>
                  <a:srgbClr val="9E9E9E"/>
                </a:solidFill>
                <a:latin typeface="Calibri"/>
              </a:rPr>
              <a:t> container | </a:t>
            </a:r>
            <a:r>
              <a:rPr sz="900" b="0" i="1" dirty="0" err="1">
                <a:solidFill>
                  <a:srgbClr val="9E9E9E"/>
                </a:solidFill>
                <a:latin typeface="Calibri"/>
              </a:rPr>
              <a:t>stageInMode</a:t>
            </a:r>
            <a:r>
              <a:rPr sz="900" b="0" i="1" dirty="0">
                <a:solidFill>
                  <a:srgbClr val="9E9E9E"/>
                </a:solidFill>
                <a:latin typeface="Calibri"/>
              </a:rPr>
              <a:t> = 'copy' for </a:t>
            </a:r>
            <a:r>
              <a:rPr sz="900" b="0" i="1" dirty="0" err="1">
                <a:solidFill>
                  <a:srgbClr val="9E9E9E"/>
                </a:solidFill>
                <a:latin typeface="Calibri"/>
              </a:rPr>
              <a:t>Apptainer</a:t>
            </a:r>
            <a:r>
              <a:rPr sz="900" b="0" i="1" dirty="0">
                <a:solidFill>
                  <a:srgbClr val="9E9E9E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9E9E9E"/>
                </a:solidFill>
                <a:latin typeface="Calibri"/>
              </a:rPr>
              <a:t>symlink</a:t>
            </a:r>
            <a:r>
              <a:rPr sz="900" b="0" i="1" dirty="0">
                <a:solidFill>
                  <a:srgbClr val="9E9E9E"/>
                </a:solidFill>
                <a:latin typeface="Calibri"/>
              </a:rPr>
              <a:t> compatibility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The core innovation: dual-database competitive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Run every sample through two Kraken2 databases simultaneously — only signals surviving both are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474720" cy="5257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474720" cy="45720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1612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Database 1: Viral-only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~10,000 viral genomes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No non-viral sequences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Closed-world: every read forced into a viral bin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Maximizes sensitivity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But: 100% FP rate in baseline cohort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143000"/>
            <a:ext cx="4114800" cy="5257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0" y="120700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Three-tier confidence scoring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783080"/>
            <a:ext cx="3840480" cy="132588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18562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Tier 1 — Shared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22199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Detected in BOTH databases
High-confidence viral candidate
Use for biology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5623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1A2E"/>
                </a:solidFill>
                <a:latin typeface="Calibri"/>
              </a:rPr>
              <a:t>HSV-1 in PD19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3291839"/>
            <a:ext cx="3840480" cy="132588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60" y="336499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Tier 2 — Viral-only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730751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Viral-only DB exclusive
False positive candidates
Investigate before interpreting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364991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1A2E"/>
                </a:solidFill>
                <a:latin typeface="Calibri"/>
              </a:rPr>
              <a:t>HERV-K, CMV proxy, MCV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4800600"/>
            <a:ext cx="3840480" cy="132588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1960" y="48737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Tier 3 — PlusPF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239512"/>
            <a:ext cx="2286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1A1A2E"/>
                </a:solidFill>
                <a:latin typeface="Calibri"/>
              </a:rPr>
              <a:t>PlusPF</a:t>
            </a:r>
            <a:r>
              <a:rPr sz="1050" b="0" i="0" dirty="0">
                <a:solidFill>
                  <a:srgbClr val="1A1A2E"/>
                </a:solidFill>
                <a:latin typeface="Calibri"/>
              </a:rPr>
              <a:t>-only
Non-viral contaminants
</a:t>
            </a:r>
            <a:r>
              <a:rPr lang="en-US" sz="1050" b="0" i="0" dirty="0">
                <a:solidFill>
                  <a:srgbClr val="1A1A2E"/>
                </a:solidFill>
                <a:latin typeface="Calibri"/>
              </a:rPr>
              <a:t>Quality Control</a:t>
            </a:r>
            <a:endParaRPr sz="105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487375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1A2E"/>
                </a:solidFill>
                <a:latin typeface="Calibri"/>
              </a:rPr>
              <a:t>10–826 taxa / sample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1143000"/>
            <a:ext cx="3474720" cy="5257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66760" y="1143000"/>
            <a:ext cx="3474720" cy="4572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11612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Database 2: PlusPF (standard)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1691640"/>
            <a:ext cx="3291840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Full bacterial, archaeal, viral, fungal + human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~100 GB — human genome included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Open-world: reads compete against host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HERV-K → reclassified to Homo sapiens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CMV proxy → </a:t>
            </a:r>
            <a:r>
              <a:rPr lang="en-US" sz="1250" dirty="0">
                <a:solidFill>
                  <a:srgbClr val="1A1A2E"/>
                </a:solidFill>
                <a:latin typeface="Calibri"/>
              </a:rPr>
              <a:t>looking like an artifact</a:t>
            </a:r>
            <a:endParaRPr sz="1250" dirty="0">
              <a:solidFill>
                <a:srgbClr val="1A1A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Multi-stage filtering + curated artifact exclusion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Bracken raw → min-reads threshold (≥5) → 24-entry artifact exclusion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2_filtering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1" y="1943100"/>
            <a:ext cx="5864410" cy="19888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0" y="1188720"/>
            <a:ext cx="59436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12618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Three output matrices per cohort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69164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60" y="1691640"/>
            <a:ext cx="137160" cy="118872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C74F"/>
                </a:solidFill>
                <a:latin typeface="Calibri"/>
              </a:rPr>
              <a:t>bracken_raw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488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All viral species from Bracken
No threshold — baseline for QC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97180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80760" y="2971800"/>
            <a:ext cx="137160" cy="1188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306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Calibri"/>
              </a:rPr>
              <a:t>minreads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2900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≥5 reads per taxon per sample
Validated: noise floor ~10 reads at 60–75M depth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425196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4251960"/>
            <a:ext cx="137160" cy="118872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B273"/>
                </a:solidFill>
                <a:latin typeface="Calibri"/>
              </a:rPr>
              <a:t>final (filtered)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091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Curated artifact exclusion applied
24 taxa: phages, reagent contaminants, env. metagenome, cross-mapping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56235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Artifact 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5844183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9E9E9E"/>
                </a:solidFill>
                <a:latin typeface="Calibri"/>
              </a:rPr>
              <a:t>Reagent contaminants · ruminant </a:t>
            </a:r>
            <a:r>
              <a:rPr sz="950" b="0" i="0" dirty="0" err="1">
                <a:solidFill>
                  <a:srgbClr val="9E9E9E"/>
                </a:solidFill>
                <a:latin typeface="Calibri"/>
              </a:rPr>
              <a:t>orthobunyaviruses</a:t>
            </a:r>
            <a:r>
              <a:rPr sz="950" b="0" i="0" dirty="0">
                <a:solidFill>
                  <a:srgbClr val="9E9E9E"/>
                </a:solidFill>
                <a:latin typeface="Calibri"/>
              </a:rPr>
              <a:t> · insect baculoviruses · phages (ICTV-reclassified) · DRG-specific env. metagenome cross-mapping · avian herpesviruses · giant amoeba viruses · hantaviruses (Oxbow)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42032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84855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 dirty="0">
                <a:solidFill>
                  <a:srgbClr val="FFFFFF"/>
                </a:solidFill>
                <a:latin typeface="Calibri"/>
              </a:rPr>
              <a:t>Two cohorts, 36 donors, and the first confirmed viral detection in human DRG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Study cohorts — 36 unique donors across two runs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Non-PD baseline (n=16 unique) + Parkinson's DRG cohort (n=20)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576072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576072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612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Non-PD Baseline (v1.3.0)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1612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Calibri"/>
              </a:rPr>
              <a:t>n = 16 unique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5486400" cy="2018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Skeletal muscle (n=5): independent donors, non-neural control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DRG — donor1 (n=6): single donor, 6 spinal levels (L1–L5, T12)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DRG — Saad cohort (n=4): independent donors, published cohort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AIG1390 (n=5): excluded — confirmed donor1 duplicate by MD5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Saad_2: excluded — library failure (0 final taxa)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Key result: Tier 1 = 0 across ALL samples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100% false positive rate for viral-only Kraken2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Established validated null baseline for DRG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virome</a:t>
            </a:r>
            <a:endParaRPr sz="120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63640" y="1143000"/>
            <a:ext cx="562356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143000"/>
            <a:ext cx="5623560" cy="50292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1612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Parkinson's DRG (v1.5.0)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116128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Calibri"/>
              </a:rPr>
              <a:t>n =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737360"/>
            <a:ext cx="5303520" cy="2018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PD patients (n=14): PD2–PD6, PD9–PD10, PD14–PD20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Unclassified controls (n=6): samples 023–028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All DRG tissue —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Psomagen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order AN00028264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Key result: Tier 1 = 1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HSV-1 detected in PD19 — 46 reads, 1.89 RPM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Confirmed in BOTH viral-only and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PlusPF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databases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First Tier 1 detection across all 36 donors</a:t>
            </a:r>
          </a:p>
          <a:p>
            <a:pPr>
              <a:spcBef>
                <a:spcPts val="5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Absent from ALL other samples (0/35)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Tier results across both cohorts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36 donors processed · 1 Tier 1 detection · 3 Tier 2 taxa fully resolved as false positives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219456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8016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B273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Tier 1 detection
(HSV-1, PD19 only)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188720"/>
            <a:ext cx="219456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97480" y="128016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9C74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828800"/>
            <a:ext cx="2194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A1A2E"/>
                </a:solidFill>
                <a:latin typeface="Calibri"/>
              </a:rPr>
              <a:t>Tier 2 taxa
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188720"/>
            <a:ext cx="219456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128016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4855"/>
                </a:solidFill>
                <a:latin typeface="Calibr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828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Viral-only FP rate
(baseline cohort)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60920" y="1188720"/>
            <a:ext cx="219456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60920" y="128016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AB"/>
                </a:solidFill>
                <a:latin typeface="Calibri"/>
              </a:rPr>
              <a:t>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828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Curated artifact
taxa excluded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1188720"/>
            <a:ext cx="2194560" cy="1371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92640" y="128016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9E9E9E"/>
                </a:solidFill>
                <a:latin typeface="Calibri"/>
              </a:rPr>
              <a:t>~10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182880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RPM detection
floor (empirical)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834640"/>
            <a:ext cx="27432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287121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108960" y="2834640"/>
            <a:ext cx="28346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54680" y="28712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Tier 1 (confirmed)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2834640"/>
            <a:ext cx="28346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035040" y="28712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Tier 2 (FP candidates)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69680" y="2834640"/>
            <a:ext cx="32004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15400" y="287121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Tier 3 (non-viral)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246120"/>
            <a:ext cx="27432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" y="3337560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Non-PD baseline (n=16)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60" y="3246120"/>
            <a:ext cx="283464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172968" y="3337560"/>
            <a:ext cx="2706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3246120"/>
            <a:ext cx="283464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53328" y="3337560"/>
            <a:ext cx="2706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3: HERV-K, CMV proxy, MCV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69680" y="3246120"/>
            <a:ext cx="32004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933688" y="3337560"/>
            <a:ext cx="3072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"/>
              </a:rPr>
              <a:t>10–179 taxa/sample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904487"/>
            <a:ext cx="27432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84048" y="3995927"/>
            <a:ext cx="26151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Parkinson's DRG (n=20)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60" y="3904487"/>
            <a:ext cx="2834640" cy="62179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172968" y="3995927"/>
            <a:ext cx="2706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1: HSV-1 in PD19 (46 reads)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89320" y="3904487"/>
            <a:ext cx="283464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053328" y="3995927"/>
            <a:ext cx="27066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3: HERV-K, CMV proxy, MCV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69680" y="3904487"/>
            <a:ext cx="32004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933688" y="3995927"/>
            <a:ext cx="30723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15–826 taxa/sample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754880"/>
            <a:ext cx="11521440" cy="15544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7200" y="482803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C74F"/>
                </a:solidFill>
                <a:latin typeface="Calibri"/>
              </a:rPr>
              <a:t>Key interpretation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1663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 dirty="0">
                <a:solidFill>
                  <a:srgbClr val="EEEEEE"/>
                </a:solidFill>
                <a:latin typeface="Calibri"/>
              </a:rPr>
              <a:t>▸ The null result in the baseline cohort validates the pipeline — zero Tier 1 is the correct answer for these healthy donors</a:t>
            </a:r>
          </a:p>
          <a:p>
            <a:pPr>
              <a:spcBef>
                <a:spcPts val="400"/>
              </a:spcBef>
            </a:pPr>
            <a:r>
              <a:rPr sz="1150" dirty="0">
                <a:solidFill>
                  <a:srgbClr val="EEEEEE"/>
                </a:solidFill>
                <a:latin typeface="Calibri"/>
              </a:rPr>
              <a:t>▸ HSV-1 in PD19 is the first Tier 1 detection — biologically plausible (HSV-1 latency in sensory ganglia), but n=1/14 PD (not statistically significant)</a:t>
            </a:r>
          </a:p>
          <a:p>
            <a:pPr>
              <a:spcBef>
                <a:spcPts val="400"/>
              </a:spcBef>
            </a:pPr>
            <a:r>
              <a:rPr sz="1150" dirty="0">
                <a:solidFill>
                  <a:srgbClr val="EEEEEE"/>
                </a:solidFill>
                <a:latin typeface="Calibri"/>
              </a:rPr>
              <a:t>▸ All three Tier 2 taxa have fully characterized mechanisms: endogenous transcription (HERV-K), k-</a:t>
            </a:r>
            <a:r>
              <a:rPr sz="1150" dirty="0" err="1">
                <a:solidFill>
                  <a:srgbClr val="EEEEEE"/>
                </a:solidFill>
                <a:latin typeface="Calibri"/>
              </a:rPr>
              <a:t>mer</a:t>
            </a:r>
            <a:r>
              <a:rPr sz="1150" dirty="0">
                <a:solidFill>
                  <a:srgbClr val="EEEEEE"/>
                </a:solidFill>
                <a:latin typeface="Calibri"/>
              </a:rPr>
              <a:t> cross-mapping (CMV proxy), index hopping (MCV)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1A1A2E"/>
                </a:solidFill>
                <a:latin typeface="Calibri"/>
              </a:rPr>
              <a:t>Tier 1: HSV-1 in PD19 — the first confirmed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46 reads, 1.89 RPM · detected in both viral-only and PlusPF databases · absent from all 35 other samples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486400" cy="5257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5486400" cy="4572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1612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The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37360"/>
            <a:ext cx="15544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B273"/>
                </a:solidFill>
                <a:latin typeface="Calibri"/>
              </a:rPr>
              <a:t>46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direct reads
(Kraken2)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1737360"/>
            <a:ext cx="15544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03120" y="182880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3BB273"/>
                </a:solidFill>
                <a:latin typeface="Calibri"/>
              </a:rPr>
              <a:t>1.89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3774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reads per
million (RPM)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1737360"/>
            <a:ext cx="15544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49039" y="1828800"/>
            <a:ext cx="1554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84855"/>
                </a:solidFill>
                <a:latin typeface="Calibri"/>
              </a:rPr>
              <a:t>1/36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23774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samples with
this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9260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Biological 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918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HSV-1 naturally establishes latency in sensory ganglia (DRG, TG)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Latency marker: LAT (latency-associated transcript) — only RNA during dormancy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Reactivation markers: immediate-early/early/late genes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Epidemiological precedent: antiviral therapy associated with reduced PD risk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Three proposed mechanisms: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9E9E9E"/>
                </a:solidFill>
                <a:latin typeface="Calibri"/>
              </a:rPr>
              <a:t>    ◦ Retrograde transport DRG → spinal cord → CNS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9E9E9E"/>
                </a:solidFill>
                <a:latin typeface="Calibri"/>
              </a:rPr>
              <a:t>    ◦ α-synuclein aggregation triggered by viral proteins</a:t>
            </a:r>
          </a:p>
          <a:p>
            <a:pPr>
              <a:spcBef>
                <a:spcPts val="400"/>
              </a:spcBef>
            </a:pPr>
            <a:r>
              <a:rPr sz="1150">
                <a:solidFill>
                  <a:srgbClr val="9E9E9E"/>
                </a:solidFill>
                <a:latin typeface="Calibri"/>
              </a:rPr>
              <a:t>    ◦ Neuroinflammation via STING/cGAS pathway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143000"/>
            <a:ext cx="5852160" cy="5257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72200" y="12161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C74F"/>
                </a:solidFill>
                <a:latin typeface="Calibri"/>
              </a:rPr>
              <a:t>Validation status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16916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B273"/>
                </a:solidFill>
                <a:latin typeface="Calibri"/>
              </a:rPr>
              <a:t>Completed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200" y="201168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EEEEEE"/>
                </a:solidFill>
                <a:latin typeface="Calibri"/>
              </a:rPr>
              <a:t>▸ Dual-database confirmation: detected in BOTH DBs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EEEEEE"/>
                </a:solidFill>
                <a:latin typeface="Calibri"/>
              </a:rPr>
              <a:t>▸ Tier 1 classification: high-confidence viral candidate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EEEEEE"/>
                </a:solidFill>
                <a:latin typeface="Calibri"/>
              </a:rPr>
              <a:t>▸ Absent from all 35 other donors (disease specificity)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EEEEEE"/>
                </a:solidFill>
                <a:latin typeface="Calibri"/>
              </a:rPr>
              <a:t>▸ Absent from non-PD baseline (n=16 unique samples)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356616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C74F"/>
                </a:solidFill>
                <a:latin typeface="Calibri"/>
              </a:rPr>
              <a:t>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886200"/>
            <a:ext cx="5577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50">
                <a:solidFill>
                  <a:srgbClr val="EEEEEE"/>
                </a:solidFill>
                <a:latin typeface="Calibri"/>
              </a:rPr>
              <a:t>▸ BLAST verification (blast_verify.nf ready — awaiting run)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EEEEEE"/>
                </a:solidFill>
                <a:latin typeface="Calibri"/>
              </a:rPr>
              <a:t>▸ Life cycle phase: LAT (latency) vs. IE/E/L (reactivation)?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EEEEEE"/>
                </a:solidFill>
                <a:latin typeface="Calibri"/>
              </a:rPr>
              <a:t>▸ Coverage depth: uniform genome coverage or LAT-localized?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EEEEEE"/>
                </a:solidFill>
                <a:latin typeface="Calibri"/>
              </a:rPr>
              <a:t>▸ Independent validation (PCR, ISH) on remaining tissue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72200" y="5486400"/>
            <a:ext cx="5577840" cy="77724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63640" y="5532120"/>
            <a:ext cx="5394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Statistical caveat: n=1/14 PD vs. 0/26 non-PD — not statistically significant (Fisher's p ≈ 0.35).
This is a hypothesis-generating finding, not a conclusion. BLAST validation required.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Tier 2: the three false positives — fully resolved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Each illustrates a different class of artifact in human tissue metagenomics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9476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94760" cy="658368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HERV-K (HML-2)
taxon 45617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9019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1A1A2E"/>
                </a:solidFill>
                <a:latin typeface="Calibri"/>
              </a:rPr>
              <a:t>Cohort total: ~80K reads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7B2D8B"/>
                </a:solidFill>
                <a:latin typeface="Calibri"/>
              </a:rPr>
              <a:t>Endogenous retroviral transcription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487168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Present in ALL 36 samples (100% prevalence)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5.8× enriched in DRG vs. muscle (p = 3.3×10⁻⁴)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DRG mean: 42 RPM (non-PD), 32 RPM (PD)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PlusPF: ALL reads → Homo sapiens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Neural-lineage LTR transcription in sensory neurons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Real biology, but endogenous — not infection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379476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59" y="1188720"/>
            <a:ext cx="3794760" cy="658368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399" y="1188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CMV proxy
taxon 3050337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19019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1A1A2E"/>
                </a:solidFill>
                <a:latin typeface="Calibri"/>
              </a:rPr>
              <a:t>~1,100 reads across 28 samples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399" y="21762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84855"/>
                </a:solidFill>
                <a:latin typeface="Calibri"/>
              </a:rPr>
              <a:t>Database gap + k-mer cross-mapping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399" y="2487168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Cytomegalovirus papiinebeta3 (baboon CMV)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ICTV 2023 split HHV-5 into primate species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Human reads routed via baboon CMV child node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~10× DRG-enriched (same k-mer source as HERV-K)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PlusPF: ZERO reads — complete resolution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Relabeled → 'Human CMV (HHV-5) [proxy]'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79476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3794760" cy="658368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1188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Molluscum contagiosum
taxon 10279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90195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1">
                <a:solidFill>
                  <a:srgbClr val="1A1A2E"/>
                </a:solidFill>
                <a:latin typeface="Calibri"/>
              </a:rPr>
              <a:t>~190 reads, sporadic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1762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9C74F"/>
                </a:solidFill>
                <a:latin typeface="Calibri"/>
              </a:rPr>
              <a:t>Index hopping / contamination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487168"/>
            <a:ext cx="35661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Sporadic, tissue-independent distribution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Absent from deepest library (Saad_1, 430K reads)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Muscle-predominant (65%) — not DRG-specific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Higher prevalence in PD cohort (11/14 vs. 24%)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PlusPF: not detected — no genuine signal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Consistent with patterned flow cell index hopping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HERV-K — a real biological signal worth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5.8× DRG enrichment over muscle · reproduced across cohorts · first quantification of HERV-K in human DRG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4_herv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400800" cy="258961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49440" y="1188720"/>
            <a:ext cx="493776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0" y="12618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Cross-cohort HERV-K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0" y="1737360"/>
            <a:ext cx="4663440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8040" y="17922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Muscle (non-PD)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7922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E9E9E"/>
                </a:solidFill>
                <a:latin typeface="Calibri"/>
              </a:rPr>
              <a:t>n=5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7922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7B2D8B"/>
                </a:solidFill>
                <a:latin typeface="Calibri"/>
              </a:rPr>
              <a:t>31.3 RPM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148840"/>
            <a:ext cx="4663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22037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DRG — donor1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037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E9E9E"/>
                </a:solidFill>
                <a:latin typeface="Calibri"/>
              </a:rPr>
              <a:t>n=6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2037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7B2D8B"/>
                </a:solidFill>
                <a:latin typeface="Calibri"/>
              </a:rPr>
              <a:t>45.8 RPM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2560320"/>
            <a:ext cx="4663440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78040" y="26151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DRG — Saad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6151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E9E9E"/>
                </a:solidFill>
                <a:latin typeface="Calibri"/>
              </a:rPr>
              <a:t>n=4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26151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7B2D8B"/>
                </a:solidFill>
                <a:latin typeface="Calibri"/>
              </a:rPr>
              <a:t>72.7 RPM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2971800"/>
            <a:ext cx="4663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0266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DRG — PD patients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0266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E9E9E"/>
                </a:solidFill>
                <a:latin typeface="Calibri"/>
              </a:rPr>
              <a:t>n=14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0266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7B2D8B"/>
                </a:solidFill>
                <a:latin typeface="Calibri"/>
              </a:rPr>
              <a:t>31.8 RPM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3383280"/>
            <a:ext cx="4663440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78040" y="3438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DRG — PD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4381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E9E9E"/>
                </a:solidFill>
                <a:latin typeface="Calibri"/>
              </a:rPr>
              <a:t>n=6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34381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7B2D8B"/>
                </a:solidFill>
                <a:latin typeface="Calibri"/>
              </a:rPr>
              <a:t>34.5 RPM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931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Implications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2519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HERV-K is NOT a virus — it's endogenous retroviral chromosomal transcription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DRG enrichment likely reflects neural-lineage chromatin accessibility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ALS literature: HERV-K Env protein in motor neurons (Li et al. 2015)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PD de-repression hypothesis NOT supported (PD RPM ≤ non-PD RPM)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Could serve as internal control — HERV-K RPM as library quality metric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Viral diversity across cohorts — sparse and dominated by endogenous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00782" y="713232"/>
            <a:ext cx="998349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9E9E9E"/>
                </a:solidFill>
                <a:latin typeface="Calibri"/>
              </a:rPr>
              <a:t>Mean richness 2–4 taxa per sample · Shannon diversity &lt;0.5 · HERV-K accounts for &gt;90% of viral reads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274320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225296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188720"/>
            <a:ext cx="73152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54680" y="1225296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1188720"/>
            <a:ext cx="128016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31920" y="12252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Richness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1188720"/>
            <a:ext cx="128016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57800" y="122529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Shannon H'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1188720"/>
            <a:ext cx="1463040" cy="3840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2252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Mean reads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00200"/>
            <a:ext cx="27432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0040" y="1600200"/>
            <a:ext cx="109728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167335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Non-PD Muscle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600200"/>
            <a:ext cx="7315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08960" y="1600200"/>
            <a:ext cx="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46120" y="16733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n=5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86200" y="1600200"/>
            <a:ext cx="1280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886200" y="1600200"/>
            <a:ext cx="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3360" y="16733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2.0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1600200"/>
            <a:ext cx="1280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212080" y="1600200"/>
            <a:ext cx="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9240" y="16733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0.067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1600200"/>
            <a:ext cx="146304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537960" y="1600200"/>
            <a:ext cx="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167335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~630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210312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0040" y="2103120"/>
            <a:ext cx="109728" cy="4572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217627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Non-PD DRG (donor1)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210312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108960" y="2103120"/>
            <a:ext cx="0" cy="4572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46120" y="21762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n=6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886200" y="210312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886200" y="2103120"/>
            <a:ext cx="0" cy="4572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023360" y="21762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3.0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212080" y="210312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212080" y="2103120"/>
            <a:ext cx="0" cy="4572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349240" y="217627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0.185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37960" y="210312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537960" y="2103120"/>
            <a:ext cx="0" cy="4572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0" y="217627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~3,670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2606040"/>
            <a:ext cx="27432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20040" y="2606040"/>
            <a:ext cx="109728" cy="4572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26791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Non-PD DRG (Saad)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08960" y="2606040"/>
            <a:ext cx="7315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108960" y="2606040"/>
            <a:ext cx="0" cy="4572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246120" y="267919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n=4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86200" y="2606040"/>
            <a:ext cx="1280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3886200" y="2606040"/>
            <a:ext cx="0" cy="4572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023360" y="2679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2.8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12080" y="2606040"/>
            <a:ext cx="1280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212080" y="2606040"/>
            <a:ext cx="0" cy="4572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349240" y="26791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0.390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37960" y="2606040"/>
            <a:ext cx="146304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6537960" y="2606040"/>
            <a:ext cx="0" cy="4572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675120" y="26791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~5,800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" y="3108960"/>
            <a:ext cx="27432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320040" y="3108960"/>
            <a:ext cx="109728" cy="45720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57200" y="318211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PD DRG patients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108960" y="3108960"/>
            <a:ext cx="7315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3108960" y="3108960"/>
            <a:ext cx="0" cy="45720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246120" y="31821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n=14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886200" y="310896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3886200" y="3108960"/>
            <a:ext cx="0" cy="45720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023360" y="3182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3.1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212080" y="3108960"/>
            <a:ext cx="12801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5212080" y="3108960"/>
            <a:ext cx="0" cy="45720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349240" y="3182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0.280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37960" y="3108960"/>
            <a:ext cx="14630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6537960" y="3108960"/>
            <a:ext cx="0" cy="45720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675120" y="31821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~800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3611880"/>
            <a:ext cx="27432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320040" y="3611880"/>
            <a:ext cx="109728" cy="4572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57200" y="368503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PD controls (023–028)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108960" y="3611880"/>
            <a:ext cx="73152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3108960" y="3611880"/>
            <a:ext cx="0" cy="4572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246120" y="36850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n=6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86200" y="3611880"/>
            <a:ext cx="1280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3886200" y="3611880"/>
            <a:ext cx="0" cy="4572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023360" y="36850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2.8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212080" y="3611880"/>
            <a:ext cx="128016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212080" y="3611880"/>
            <a:ext cx="0" cy="4572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5349240" y="36850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0.226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537960" y="3611880"/>
            <a:ext cx="146304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6537960" y="3611880"/>
            <a:ext cx="0" cy="45720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6675120" y="368503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  <a:latin typeface="Calibri"/>
              </a:rPr>
              <a:t>~750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138158" y="1188720"/>
            <a:ext cx="3749041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677530" y="1261872"/>
            <a:ext cx="302679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A1A2E"/>
                </a:solidFill>
                <a:latin typeface="Calibri"/>
              </a:rPr>
              <a:t>What low diversity means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00542" y="1691640"/>
            <a:ext cx="3503777" cy="2877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The DRG </a:t>
            </a:r>
            <a:r>
              <a:rPr sz="1200" dirty="0" err="1">
                <a:solidFill>
                  <a:srgbClr val="1A1A2E"/>
                </a:solidFill>
                <a:latin typeface="Calibri"/>
              </a:rPr>
              <a:t>virome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(from bulk RNA-seq) is extremely sparse</a:t>
            </a:r>
            <a:r>
              <a:rPr lang="en-US" sz="1200" dirty="0">
                <a:solidFill>
                  <a:srgbClr val="1A1A2E"/>
                </a:solidFill>
                <a:latin typeface="Calibri"/>
              </a:rPr>
              <a:t> so far</a:t>
            </a:r>
            <a:endParaRPr sz="12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HERV-K dominates: &gt;90% of total viral reads in every sample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After artifact exclusion, 2–4 taxa per sample — most are Tier 2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This is expected: bulk RNA-seq is not designed for metagenomics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Latent viruses (VZV, HSV) may be below detection floor in most donors</a:t>
            </a:r>
          </a:p>
          <a:p>
            <a:pPr>
              <a:spcBef>
                <a:spcPts val="600"/>
              </a:spcBef>
            </a:pPr>
            <a:r>
              <a:rPr sz="1200" dirty="0">
                <a:solidFill>
                  <a:srgbClr val="1A1A2E"/>
                </a:solidFill>
                <a:latin typeface="Calibri"/>
              </a:rPr>
              <a:t>▸ HSV-1 in PD19 is the outlier</a:t>
            </a:r>
            <a:r>
              <a:rPr lang="en-US" sz="1200" dirty="0">
                <a:solidFill>
                  <a:srgbClr val="1A1A2E"/>
                </a:solidFill>
                <a:latin typeface="Calibri"/>
              </a:rPr>
              <a:t>. </a:t>
            </a:r>
            <a:r>
              <a:rPr sz="1200" dirty="0">
                <a:solidFill>
                  <a:srgbClr val="1A1A2E"/>
                </a:solidFill>
                <a:latin typeface="Calibri"/>
              </a:rPr>
              <a:t> 46 reads is well above the ~10 read noise floor, and it survived competitive classification against the full genome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560320"/>
            <a:ext cx="1005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542032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BB273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54680"/>
            <a:ext cx="1097280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 dirty="0">
                <a:solidFill>
                  <a:srgbClr val="FFFFFF"/>
                </a:solidFill>
                <a:latin typeface="Calibri"/>
              </a:rPr>
              <a:t>Future Directions</a:t>
            </a:r>
            <a:endParaRPr lang="en-US" sz="4600" b="1" i="0" dirty="0">
              <a:solidFill>
                <a:srgbClr val="FFFFFF"/>
              </a:solidFill>
              <a:latin typeface="Calibri"/>
            </a:endParaRPr>
          </a:p>
          <a:p>
            <a:pPr algn="l"/>
            <a:endParaRPr lang="en-US" sz="4600" b="1" i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lang="en-US" sz="4600" b="1" dirty="0">
                <a:solidFill>
                  <a:srgbClr val="FFFFFF"/>
                </a:solidFill>
                <a:latin typeface="Calibri"/>
              </a:rPr>
              <a:t>				</a:t>
            </a:r>
            <a:endParaRPr sz="46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2068</Words>
  <Application>Microsoft Office PowerPoint</Application>
  <PresentationFormat>Custom</PresentationFormat>
  <Paragraphs>263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Wilde</cp:lastModifiedBy>
  <cp:revision>3</cp:revision>
  <dcterms:created xsi:type="dcterms:W3CDTF">2013-01-27T09:14:16Z</dcterms:created>
  <dcterms:modified xsi:type="dcterms:W3CDTF">2026-04-08T23:30:45Z</dcterms:modified>
  <cp:category/>
</cp:coreProperties>
</file>