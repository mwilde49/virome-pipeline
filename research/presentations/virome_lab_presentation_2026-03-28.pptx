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601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Virome</a:t>
            </a:r>
            <a:r>
              <a:rPr lang="en-US" sz="4200" b="1" i="0" dirty="0">
                <a:solidFill>
                  <a:srgbClr val="FFFFFF"/>
                </a:solidFill>
                <a:latin typeface="Calibri"/>
              </a:rPr>
              <a:t> Expression</a:t>
            </a:r>
            <a:r>
              <a:rPr sz="4200" b="1" i="0" dirty="0">
                <a:solidFill>
                  <a:srgbClr val="FFFFFF"/>
                </a:solidFill>
                <a:latin typeface="Calibri"/>
              </a:rPr>
              <a:t> Profiling
of Human</a:t>
            </a:r>
            <a:r>
              <a:rPr lang="en-US" sz="4200" b="1" i="0" dirty="0">
                <a:solidFill>
                  <a:srgbClr val="FFFFFF"/>
                </a:solidFill>
                <a:latin typeface="Calibri"/>
              </a:rPr>
              <a:t> DRG &amp;</a:t>
            </a:r>
            <a:r>
              <a:rPr sz="4200" b="1" i="0" dirty="0">
                <a:solidFill>
                  <a:srgbClr val="FFFFFF"/>
                </a:solidFill>
                <a:latin typeface="Calibri"/>
              </a:rPr>
              <a:t> Neural Tissue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9C74F"/>
                </a:solidFill>
                <a:latin typeface="Calibri"/>
              </a:rPr>
              <a:t>A Nextflow pipeline for competitive dual-database classification from bulk RNA-seq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CCCC"/>
                </a:solidFill>
                <a:latin typeface="Calibri"/>
              </a:rPr>
              <a:t>M</a:t>
            </a:r>
            <a:r>
              <a:rPr lang="en-US" sz="1400" b="0" i="0" dirty="0">
                <a:solidFill>
                  <a:srgbClr val="CCCCCC"/>
                </a:solidFill>
                <a:latin typeface="Calibri"/>
              </a:rPr>
              <a:t>ichael</a:t>
            </a:r>
            <a:r>
              <a:rPr sz="1400" b="0" i="0" dirty="0">
                <a:solidFill>
                  <a:srgbClr val="CCCCCC"/>
                </a:solidFill>
                <a:latin typeface="Calibri"/>
              </a:rPr>
              <a:t> Wild</a:t>
            </a:r>
            <a:r>
              <a:rPr lang="en-US" sz="1400" b="0" i="0" dirty="0">
                <a:solidFill>
                  <a:srgbClr val="CCCCCC"/>
                </a:solidFill>
                <a:latin typeface="Calibri"/>
              </a:rPr>
              <a:t>e</a:t>
            </a:r>
            <a:r>
              <a:rPr sz="1400" b="0" i="0" dirty="0">
                <a:solidFill>
                  <a:srgbClr val="CCCCCC"/>
                </a:solidFill>
                <a:latin typeface="Calibri"/>
              </a:rPr>
              <a:t>  ·  </a:t>
            </a:r>
            <a:r>
              <a:rPr lang="en-US" sz="1400" dirty="0">
                <a:solidFill>
                  <a:srgbClr val="CCCCCC"/>
                </a:solidFill>
                <a:latin typeface="Calibri"/>
              </a:rPr>
              <a:t>CAPS</a:t>
            </a:r>
            <a:r>
              <a:rPr sz="1400" b="0" i="0" dirty="0">
                <a:solidFill>
                  <a:srgbClr val="CCCCCC"/>
                </a:solidFill>
                <a:latin typeface="Calibri"/>
              </a:rPr>
              <a:t>  ·  UT Dallas  ·  </a:t>
            </a:r>
            <a:r>
              <a:rPr lang="en-US" sz="1400" b="0" i="0" dirty="0">
                <a:solidFill>
                  <a:srgbClr val="CCCCCC"/>
                </a:solidFill>
                <a:latin typeface="Calibri"/>
              </a:rPr>
              <a:t>April</a:t>
            </a:r>
            <a:r>
              <a:rPr sz="1400" b="0" i="0" dirty="0">
                <a:solidFill>
                  <a:srgbClr val="CCCCCC"/>
                </a:solidFill>
                <a:latin typeface="Calibri"/>
              </a:rPr>
              <a:t>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T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his talk covers: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①  The method — solving sensitivity vs. specificity in virome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05272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②  The findings —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>what preliminary data does (and does not) reveal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5952744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③  The </a:t>
            </a:r>
            <a:r>
              <a:rPr lang="en-US" sz="1300" b="0" i="0" dirty="0">
                <a:solidFill>
                  <a:srgbClr val="FFFFFF"/>
                </a:solidFill>
                <a:latin typeface="Calibri"/>
              </a:rPr>
              <a:t>tech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— how this aligns wit</a:t>
            </a:r>
            <a:r>
              <a:rPr lang="en-US" sz="1300" b="0" i="0" dirty="0">
                <a:solidFill>
                  <a:srgbClr val="FFFFFF"/>
                </a:solidFill>
                <a:latin typeface="Calibri"/>
              </a:rPr>
              <a:t>h current technology standards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3002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④  The ask — consolidating the lab's sequencing assets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Why look for viruses in dorsal root ganglia?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Neurotropic viruses establish latency in sensory ganglia — and may drive pain long after acute infection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Biology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356616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DRG = primary sensory neurons; peripheral pain pathway entry point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VZV (varicella-zoster) establishes latency in DRG — reactivation → shingles / postherpetic neuralgia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HSV-1/2 latency in trigeminal &amp; sacral DRG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CMV, HHV-6 detected in neural tissue under immunosuppression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HIV — peripheral neuropathy in 30–50% of patients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SARS-CoV-2 long COVID: sensory neuropathy, small fiber neuropathy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43000"/>
            <a:ext cx="3566160" cy="41148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1612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Clinical Need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6616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27632"/>
            <a:ext cx="329184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Chronic neuropathic pain affects ~8% of adults </a:t>
            </a:r>
            <a:r>
              <a:rPr lang="en-US" sz="1200" dirty="0">
                <a:solidFill>
                  <a:srgbClr val="1A1A2E"/>
                </a:solidFill>
                <a:latin typeface="Calibri"/>
              </a:rPr>
              <a:t>yet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mechanisms</a:t>
            </a:r>
            <a:r>
              <a:rPr lang="en-US" sz="1200" dirty="0">
                <a:solidFill>
                  <a:srgbClr val="1A1A2E"/>
                </a:solidFill>
                <a:latin typeface="Calibri"/>
              </a:rPr>
              <a:t> incompletely illuminated</a:t>
            </a:r>
            <a:endParaRPr sz="12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Viral triggers implicated in: PHN, DPN, HIV neuropathy, MS nerve damage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No systematic profiling of the DRG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virome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at transcriptomic resolution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Human DRG tissue increasingly available via post-mortem &amp; surgical programs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GTEx</a:t>
            </a:r>
            <a:r>
              <a:rPr sz="1200" dirty="0">
                <a:solidFill>
                  <a:srgbClr val="1A1A2E"/>
                </a:solidFill>
                <a:latin typeface="Calibri"/>
              </a:rPr>
              <a:t>, NABEC, and disease-specific biobanks now provide bulk RNA-seq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143000"/>
            <a:ext cx="3566160" cy="41148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1612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54480"/>
            <a:ext cx="356616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1627632"/>
            <a:ext cx="329184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Our lab has 100–200 human donors across 12+ tissue types</a:t>
            </a:r>
            <a:r>
              <a:rPr lang="en-US" sz="1200" dirty="0">
                <a:solidFill>
                  <a:srgbClr val="1A1A2E"/>
                </a:solidFill>
                <a:latin typeface="Calibri"/>
              </a:rPr>
              <a:t> and hundreds of samples</a:t>
            </a:r>
            <a:endParaRPr sz="12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Bulk RNA-seq already in hand for DRG, spinal cord, muscle, and more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Single-nucleus, spatial, and multi-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omic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modalities available for DRG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Computational pipeline can answer this question at scale — if we use the data we have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Paper 2 target: neuropathic pain vs. healthy DRG across all pain conditions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challenge: finding viral signal in a sea of host 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Bulk RNA-seq is not designed for metagenomics — but it's what we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0352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Typical bulk RNA-seq library 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37360"/>
            <a:ext cx="3200400" cy="4297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Host (human)
~99.95% of reads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737360"/>
            <a:ext cx="3200400" cy="201168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947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855"/>
                </a:solidFill>
                <a:latin typeface="Calibri"/>
              </a:rPr>
              <a:t>Viral reads: &lt;0.05%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88720"/>
            <a:ext cx="598932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Two failure modes for virome 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691640"/>
            <a:ext cx="5577840" cy="36576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709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Problem 1: Viral-only database — the closed-world assumption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03120"/>
            <a:ext cx="5577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Classifier has no non-viral reference — every read must land somewhere viral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Human transcripts sharing k-mers with viral genomes → misassigned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HERVs, CMV k-mers, and neural lncRNAs are common offenders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Result: systematic false positives in every 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931920"/>
            <a:ext cx="5577840" cy="3657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Problem 2: Sensitivity — latent viruses leave few 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34340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VZV/HSV maintain latency with minimal transcription — may fall below noise floor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Bulk RNA-seq detection floor: ~10 reads per million host-depleted reads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Targeted enrichment (VirCapSeq) or pseudobulk needed for latent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Detection floor ~10 RPM established empirically from this cohort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AB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virome-pipeline: competitive dual-database classification for human neural tissue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virome-pipeline v1.3.0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Seven-step Nextflow DSL2 workflow with optional dual-database competitive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8938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STAR host depletion → Kraken2 classification → Bracken re-estimation → multi-stage filtering → cohort aggregation  |  All steps containerized (Apptainer); SLURM-ready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core innovation: competitive dual-database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Ask two questions simultaneously — does this virus survive competition with the full genome?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47472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47472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 1: Viral-only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~10,000 viral genomes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No non-viral sequences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Closed-world: every read forced into a viral bin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Result: detects HERV-K, CMV proxy, MCV as 'viruses'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False positive rate: 100% in this cohort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143000"/>
            <a:ext cx="4114800" cy="5257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12070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Three-tier confidence 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783080"/>
            <a:ext cx="3840480" cy="132588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856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1 —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2199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Detected in BOTH databases
High-confidence viral candidate
Use for 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5623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= 0 in our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3291839"/>
            <a:ext cx="3840480" cy="132588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33649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2 — Viral-only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730751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Viral-only DB exclusive
False positive candidates
Investigate before interpreting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64991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= 3 taxa (all resolved as FP)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800600"/>
            <a:ext cx="3840480" cy="132588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4873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3 — PlusPF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23951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PlusPF-only
Non-viral contaminants
QC utility — not biology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7375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= 10–179 taxa / sample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1143000"/>
            <a:ext cx="347472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66760" y="1143000"/>
            <a:ext cx="347472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1161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 2: PlusPF (standard)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6916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Full bacterial, archaeal, viral, fungal + human reference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~100 GB — human genome included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Open-world: reads can land on the correct host sequence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HERV-K → reclassified to Homo sapiens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CMV proxy → 0 reads (k-mer artifact resolved)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Multi-stage filtering funnel — 15 samples, 3 tissue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Systematic noise reduction: Bracken raw → min-reads threshold → curated artifact exclusion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2_filtering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37522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24-entry artifact exclusion list | categories: reagent contaminants, ruminant bunyaviruses, insect baculoviruses, phages, environmental metagenome viruses, DRG k-mer cross-mapping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Curated artifact exclusion — 24 entries, versioned with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Every false positive was investigated at the read level before being added to the exclusion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057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25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188720"/>
            <a:ext cx="269748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2252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Example taxa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188720"/>
            <a:ext cx="315468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12252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188720"/>
            <a:ext cx="361188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Diagnostic signature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00200"/>
            <a:ext cx="2057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" y="1645920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Reagent contaminants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600200"/>
            <a:ext cx="26974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87168" y="1645920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PhiX174, lambda phage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600200"/>
            <a:ext cx="31546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1645920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Library prep spike-in k-mers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00200"/>
            <a:ext cx="36118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645920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All samples, all tissues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58568"/>
            <a:ext cx="2057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" y="2304288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Ruminant orthobunyaviruses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2258568"/>
            <a:ext cx="2697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87168" y="2304288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Schmallenberg virus, Akabane orthobunyavirus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258568"/>
            <a:ext cx="3154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76088" y="2304288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Cattle/sheep host k-mer overlap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258568"/>
            <a:ext cx="3611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22208" y="230428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DRG-enriched (neuronal transcripts)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16936"/>
            <a:ext cx="2057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" y="2962656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Insect baculoviruses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2916936"/>
            <a:ext cx="26974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87168" y="2962656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Autographa californica MNPV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2916936"/>
            <a:ext cx="31546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76088" y="2962656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Invertebrate cell line contaminants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2916936"/>
            <a:ext cx="36118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22208" y="2962656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Sporadic; reagent-associated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575304"/>
            <a:ext cx="2057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8328" y="3621024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Phages (ICTV-reclassified)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3575304"/>
            <a:ext cx="2697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87168" y="3621024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Ralstonia phage p12J → Porrectionivirus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575304"/>
            <a:ext cx="3154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76088" y="3621024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Taxon ID superseded; old ID escapes 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575304"/>
            <a:ext cx="3611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22208" y="3621024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Run after DB update = reappears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33672"/>
            <a:ext cx="2057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8328" y="4279392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Environmental metagenome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23160" y="4233672"/>
            <a:ext cx="26974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87168" y="4279392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Gihfavirus, Kinglevirus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4233672"/>
            <a:ext cx="31546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276088" y="4279392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DRG-specific lncRNA / ion channel k-mers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4233672"/>
            <a:ext cx="36118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22208" y="427939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DRG-only; absent from muscle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892040"/>
            <a:ext cx="2057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8328" y="4937760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Giant amoeba viruses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23160" y="4892040"/>
            <a:ext cx="2697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87168" y="4937760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Colossusvirus, Pandoravirus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80" y="4892040"/>
            <a:ext cx="3154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276088" y="4937760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Environmental metagenome contamination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4892040"/>
            <a:ext cx="3611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22208" y="4937760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Sporadic, sample-independent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550408"/>
            <a:ext cx="2057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38328" y="5596128"/>
            <a:ext cx="1975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Hantaviruses (Oxbow)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23160" y="5550408"/>
            <a:ext cx="26974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487168" y="5596128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Orthohantavirus oxbowense (2 taxon IDs)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5550408"/>
            <a:ext cx="31546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76088" y="5596128"/>
            <a:ext cx="30723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Confirmed k-mer cross-mapping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58200" y="5550408"/>
            <a:ext cx="36118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22208" y="559612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Present in ALL samples/tissues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ICTV reclassification caveat: after each database update, audit for taxon ID supersession. Both old and new IDs listed where applicable.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2D8B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Zero confirmed viruses — and why that's the most important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Study cohort — 15 human samples, two tissue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5 skeletal muscle  ·  6 DRG (donor1, L1–L5 + T12)  ·  4 DRG (Saad cohort, independent donors)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94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9476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Skeletal Muscle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207008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n =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Calibri"/>
              </a:rPr>
              <a:t>Sample_19, 20, 21, 22,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76272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Independent donors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Post-mortem vastus lateralis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Non-neural control tissue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QC: all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94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94760" cy="5029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2070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DRG — donor1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207008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n =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17556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Calibri"/>
              </a:rPr>
              <a:t>L1, L2, L3, L4, L5, T12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176272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Single donor; all spinal levels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Intra-donor replication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Allows spinal level stratification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QC: all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94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94760" cy="50292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2070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DRG — Saad cohort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207008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n =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556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Calibri"/>
              </a:rPr>
              <a:t>Saad_1 (QC flag), Saad_3, Saad_4, Saad_5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76272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Independent donors; published cohort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Saad_1: 430K bracken_raw reads (8× DRG median) — flagged, included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Saad_2: excluded (library failure, 0 final taxa)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AIG1390: excluded (confirmed donor1 duplicate by MD5)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4648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⚠  AIG1390 (5 samples) excluded after MD5 checksum confirmed identical to donor1 FASTQs — duplicate submission under two donor IDs. Correct AIG1390 FASTQs to be obtained from provider.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A1A2E"/>
                </a:solidFill>
                <a:latin typeface="Calibri"/>
              </a:rPr>
              <a:t>The result: zero confirmed viral detections — </a:t>
            </a:r>
            <a:r>
              <a:rPr lang="en-US" sz="2800" b="1" dirty="0">
                <a:solidFill>
                  <a:srgbClr val="1A1A2E"/>
                </a:solidFill>
                <a:latin typeface="Calibri"/>
              </a:rPr>
              <a:t>so far (two DRG, muscle)</a:t>
            </a:r>
            <a:endParaRPr sz="28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Tier 1 = 0 across all 15 samples and both tissue types  ·  100% false positive rate for viral-only Kraken2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031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B273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Tier 1 taxa
(confirmed viral)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88720"/>
            <a:ext cx="21031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280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4855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Tier 2 taxa
(all resolved as FP)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188720"/>
            <a:ext cx="21031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280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4855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False positive rate
of viral-only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1188720"/>
            <a:ext cx="21031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1280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B273"/>
                </a:solidFill>
                <a:latin typeface="Calibri"/>
              </a:rPr>
              <a:t>15/15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Samples with
Tier 1 =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188720"/>
            <a:ext cx="25146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9C74F"/>
                </a:solidFill>
                <a:latin typeface="Calibri"/>
              </a:rPr>
              <a:t>~10 RPM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Detection floor
(host-depleted fraction)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What this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27248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We did not fail to detect viruses — we succeeded in distinguishing signal from noise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The pipeline correctly returned zero: a scientifically valid null result at bulk RNA-seq sensitivity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Three "signals" from viral-only classification were fully explained by endogenous transcription, k-mer cross-mapping, and index hopping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This establishes a validated baseline: human DRG shows no active exogenous viral transcription above ~10 RPM in these donors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Future cohorts with neuropathic pain patients are now interpretable against this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697480"/>
            <a:ext cx="571500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C74F"/>
                </a:solidFill>
                <a:latin typeface="Calibri"/>
              </a:rPr>
              <a:t>The sensitivity vs. specificity trade-off — resolved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46120"/>
            <a:ext cx="5394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Viral-only k-mer classifiers maximize sensitivity by forcing every read into a viral bin. This is correct behavior for environmental metagenomics — where host contamination is the exception.
In human tissue RNA-seq, the assumption inverts: the vast majority of "viral" k-mer matches are host-derived. A classifier with no host reference cannot distinguish endogenous retroviral transcription from exogenous infection.
Competitive dual-database classification restores specificity without sacrificing sensitivity to true positives. Tier 1 detections — reads that survive competition with the full genome — can be biologically interpreted.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Dual-database tier classification across all 15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Panel A: Tier 2 vs Tier 3 per sample  ·  Panel B: The three Tier 2 taxa — all confirmed false positives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3_ti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21440" cy="7831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Tier 2 = viral-only exclusive  ·  Tier 3 = PlusPF-only (non-viral background)  ·  Tier 1 = 0 in all samples (green annotation)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three Tier 2 taxa — fully resolved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Each false positive explains a different class of artifact in human tissue metagenomics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94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94760" cy="65836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HERV-K (HML-2)
taxon 45617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  <a:latin typeface="Calibri"/>
              </a:rPr>
              <a:t>39,848 reads cohort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D8B"/>
                </a:solidFill>
                <a:latin typeface="Calibri"/>
              </a:rPr>
              <a:t>Endogenous retroviral transcription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Present in all 15 samples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5.8× enriched in DRG vs. muscle (p &lt; 0.0001 Mann-Whitney U)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Reproduced across 2 independent DRG cohorts at 6 spinal levels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PlusPF: ALL reads reclassified to Homo sapiens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Biological signal: neural-lineage LTR promoter activity in post-mitotic sensory neurons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NOT evidence of exogenous retroviral infection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94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94760" cy="658368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 CMV (HHV-5) [proxy]
taxon 3050337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901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  <a:latin typeface="Calibri"/>
              </a:rPr>
              <a:t>1,097 reads across 14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176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4855"/>
                </a:solidFill>
                <a:latin typeface="Calibri"/>
              </a:rPr>
              <a:t>ICTV reclassification k-mer cross-mapping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487168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ICTV 2023 split HHV-5 into primate betaherpesvirus species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LCA rollup routes reads via baboon CMV child node (2169863)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~10× DRG-enriched — mirrors HERV-K (same k-mer source)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PlusPF: ZERO reads at this taxon in ALL samples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Remediation: taxon_remap.tsv → '[proxy]' label; dual-DB confirms no genuine CMV signal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Critical: do NOT interpret as CMV latency in DRG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94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94760" cy="65836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Molluscum contagiosum virus
taxon 10279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01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  <a:latin typeface="Calibri"/>
              </a:rPr>
              <a:t>189 reads total, sporadic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76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C74F"/>
                </a:solidFill>
                <a:latin typeface="Calibri"/>
              </a:rPr>
              <a:t>Index hopping / library prep contamination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87168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Absent from deepest library (Saad_1, 430K bracken_raw reads)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Sporadic: muscle-predominant (65% of reads) — tissue-independent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Distribution inconsistent with k-mer cross-mapping artifact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Consistent with index hopping on patterned flow cell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PlusPF: not detected — no genuine MCV transcription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Does not require follow-up investigation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HERV-K — an unexpected biological signal worth pursuing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5.8× enrichment in DRG vs. skeletal muscle  ·  reproduced across 2 independent cohorts  ·  6 spinal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4_herv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949440" cy="28115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188720"/>
            <a:ext cx="457200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261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Why does this matter?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69164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HERV-K/HML-2 is the most recently active HERV family in the human genome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LTR retrotransposons de-repress via NF-κB in neuroinflammatory contexts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ALS literature: TDP-43 pathology correlates with HERV-K envelope protein expression (Li et al. 2015, Science)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MS literature: HERV-K and HERV-W elevated in MS plaques and CSF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DRG-specific enrichment (5.8×) is consistent with neural-lineage LTR transcription in post-mitotic sensory neurons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Hypothesis for Paper 2: does HERV-K expression differ between neuropathic pain vs. control DRG?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5650992"/>
            <a:ext cx="4572000" cy="685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568756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Under PlusPF: ALL 39,848 HERV-K reads reclassified to Homo sapiens.
This is endogenous chromosomal transcription — not infection.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Mann-Whitney U, DRG vs muscle: p &lt; 0.0001  ·  DRG mean 3,670 reads/sample  ·  Muscle mean 629 reads/sample  ·  donor1_L5 = 7,725 reads (largest DRG library)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Where virome-pipeline sits in the field — and how it aligns with best practices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Tool comparison — how virome-pipeline positions in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Most existing tools were designed for environmental metagenomics or clinical pathogen detection — not bulk RNA-seq from human neural tissue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0116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252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188720"/>
            <a:ext cx="14630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225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DB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188720"/>
            <a:ext cx="16916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2529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Host removal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188720"/>
            <a:ext cx="24688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12252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FP handling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188720"/>
            <a:ext cx="12344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22529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HPC-ready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1188720"/>
            <a:ext cx="288036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22529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Neural tissue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00200"/>
            <a:ext cx="2011680" cy="69494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" y="1645920"/>
            <a:ext cx="1883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virome-pipeline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1600200"/>
            <a:ext cx="1463040" cy="69494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95728" y="1645920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Dual-DB: viral + PlusPF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600200"/>
            <a:ext cx="1691640" cy="69494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04488" y="1645920"/>
            <a:ext cx="15636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STAR (splice-aware)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1600200"/>
            <a:ext cx="2468880" cy="69494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41848" y="1645920"/>
            <a:ext cx="23408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Dual-DB + 24-entry curated 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1600200"/>
            <a:ext cx="1234440" cy="69494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1645920"/>
            <a:ext cx="11064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✓ SLURM + Apptainer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1600200"/>
            <a:ext cx="2880360" cy="69494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36608" y="1645920"/>
            <a:ext cx="27523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✓ Designed for this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331720"/>
            <a:ext cx="201168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" y="2377440"/>
            <a:ext cx="1883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MysteryMiner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331720"/>
            <a:ext cx="14630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95728" y="2377440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Viral-only k-mer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331720"/>
            <a:ext cx="16916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04488" y="2377440"/>
            <a:ext cx="15636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Bowtie2 / custom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2331720"/>
            <a:ext cx="246888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41848" y="2377440"/>
            <a:ext cx="23408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Prevalence filter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331720"/>
            <a:ext cx="12344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56448" y="2377440"/>
            <a:ext cx="11064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2331720"/>
            <a:ext cx="288036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2377440"/>
            <a:ext cx="27523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No — general purpose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063240"/>
            <a:ext cx="20116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" y="3108960"/>
            <a:ext cx="1883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VirCapSeq-VERT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3063240"/>
            <a:ext cx="14630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95728" y="3108960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Capture + alignment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063240"/>
            <a:ext cx="16916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04488" y="3108960"/>
            <a:ext cx="15636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Targeted enrichment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063240"/>
            <a:ext cx="24688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41848" y="3108960"/>
            <a:ext cx="23408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Alignment-based (high specificity)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3063240"/>
            <a:ext cx="12344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56448" y="3108960"/>
            <a:ext cx="11064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72600" y="3063240"/>
            <a:ext cx="288036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36608" y="3108960"/>
            <a:ext cx="27523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✓ High sensitivity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794760"/>
            <a:ext cx="201168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8328" y="3840480"/>
            <a:ext cx="1883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CZ ID (IDseq)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3794760"/>
            <a:ext cx="14630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95728" y="3840480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NCBI NT + NR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794760"/>
            <a:ext cx="16916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04488" y="3840480"/>
            <a:ext cx="15636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STAR + DIAMOND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3794760"/>
            <a:ext cx="246888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41848" y="3840480"/>
            <a:ext cx="23408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Background correction (ERCC)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92440" y="3794760"/>
            <a:ext cx="12344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56448" y="3840480"/>
            <a:ext cx="11064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Cloud only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2600" y="3794760"/>
            <a:ext cx="288036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36608" y="3840480"/>
            <a:ext cx="27523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Yes — limited HPC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526280"/>
            <a:ext cx="20116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38328" y="4572000"/>
            <a:ext cx="1883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GATK PathSeq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31720" y="4526280"/>
            <a:ext cx="14630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395728" y="4572000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Alignment-based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80" y="4526280"/>
            <a:ext cx="16916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904488" y="4572000"/>
            <a:ext cx="15636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Human genome align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77840" y="4526280"/>
            <a:ext cx="24688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641848" y="4572000"/>
            <a:ext cx="23408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Coverage + alignment stringency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4526280"/>
            <a:ext cx="12344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156448" y="4572000"/>
            <a:ext cx="11064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✓ GATK framework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72600" y="4526280"/>
            <a:ext cx="288036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36608" y="4572000"/>
            <a:ext cx="27523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Yes — designed for it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257800"/>
            <a:ext cx="201168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38328" y="5303520"/>
            <a:ext cx="1883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Centrifuge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31720" y="5257800"/>
            <a:ext cx="14630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395728" y="5303520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Configurable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40480" y="5257800"/>
            <a:ext cx="16916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904488" y="5303520"/>
            <a:ext cx="15636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None (user-adds)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77840" y="5257800"/>
            <a:ext cx="246888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41848" y="5303520"/>
            <a:ext cx="23408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None built-in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92440" y="5257800"/>
            <a:ext cx="123444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156448" y="5303520"/>
            <a:ext cx="11064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Yes (fast, low mem)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72600" y="5257800"/>
            <a:ext cx="2880360" cy="6949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436608" y="5303520"/>
            <a:ext cx="27523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Not neural-specific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VirCapSeq-VERT (Briese et al. 2015) — gold standard for sensitivity but requires targeted capture; not applicable to existing bulk RNA-seq  ·  CZ ID best suited for clinical NGS  ·  PathSeq: alignment-based, slower but high specificity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Technical standards — built to production genomics norms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Containerization, reproducibility, and HPC integration following nf-core and Nextflow community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9476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82880" cy="2331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2618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Nextflow DSL2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3736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Module-based: each step is an independent, re-testable process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Channel-based DAG: data dependencies explicit and visualizable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Aligns with nf-core framework (nf-core/viralrecon, nf-core/taxprofiler)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379476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182880" cy="2331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1" y="12618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Containerization
(Apptainer)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1" y="173736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Every tool in its own .sif — no version conflicts, no environment drift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Apptainer (formerly Singularity) — rootless, HPC-standard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Reproducibility: same container on any cluster = same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9476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18288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12618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SLURM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73736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slurm profile: automatic resource requests per process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workDir on /scratch (not groups filesystem) — no quota exhaustion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Interactive compute node workflow prevents login node memory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79476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182880" cy="233172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7307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B273"/>
                </a:solidFill>
                <a:latin typeface="Calibri"/>
              </a:rPr>
              <a:t>Versioned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2062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artifact_taxa.tsv: version-controlled, ICTV-aware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taxon_remap.tsv: misleading labels corrected, taxon_id preserved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Samplesheet + config.yaml: full run reproducibility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657600"/>
            <a:ext cx="379476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51959" y="3657600"/>
            <a:ext cx="182880" cy="23317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7991" y="37307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MultiQC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1" y="42062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Per-sample QC metrics (FastQC, STAR alignment stats, Bracken counts)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Filter funnel and diversity stats injected as custom content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Single HTML report for cohort QC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79476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182880" cy="2331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85632" y="37307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D8B"/>
                </a:solidFill>
                <a:latin typeface="Calibri"/>
              </a:rPr>
              <a:t>Open source (MIT)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42062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github.com/mwilde49/virome-pipeline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DOI via Zenodo (tag v1.2.0 — pending publication)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All dependencies: open source, well-maintained biocontainers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B273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Consolidating the lab's sequencing assets — and where we go next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lab's sequencing asset — an extraordinary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100–200 human donors  ·  12+ tissue types  ·  10+ sequencing modalities — most of it not yet systematically analyzed for virome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02920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02920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Tissue types (human, post-mortem or surgical)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Dorsal root ganglia (DRG) — primary focus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Spinal cord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Trigeminal ganglia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Vagus nerve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Sympathetic ganglia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Spinal meninges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Nodose ganglia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Adenoids / tonsil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Blood (PBMC, whole blood)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Bronchoalveolar lavage fluid (BAL)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Vastus lateralis (skeletal muscle)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+ additional tissue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188720"/>
            <a:ext cx="31089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32120" y="1188720"/>
            <a:ext cx="310896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1216152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Modalities available for DRG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719072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Bulk RNA-seq  ← virome-pipeline now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ATAC-seq (chromatin)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Iso-seq (long-read)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miRNA-seq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Patch-seq (single cell + electrophys)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PIP-seq (combinatorial barcoding)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scRNA-seq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snRNA-seq  ← pseudobulk virome future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Visium (spatial)  ← pseudobulk virome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Xenium (in situ)  ← cell-type viral tropism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188720"/>
            <a:ext cx="31089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1261872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719072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  <a:latin typeface="Calibri"/>
              </a:rPr>
              <a:t>virome-pipeline is tissue-agnostic — the artifact exclusion list is swappable per tissue type.
A systematic virome screen across all 100–200 donors and all tissue types would be the first comprehensive neural virome atlas of this scale.
All that is needed:
① Consolidate FASTQs onto a shared location
② Run a single Nextflow command
③ Review the MultiQC report
No new sequencing required for the first atlas pass.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Beyond bulk: pseudobulk virome from snRNA-seq, spatial, and multiome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Unmapped reads from single-cell/spatial modalities contain viral signal — with cell-type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The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STARsolo / CellRanger generate BAMs with cell barcodes — even for unmapped reads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Unmapped reads can be extracted per cell barcode → pseudobulk per cell type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Kraken2 on these reads = cell-type resolved virome profiling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Key question: if a virus is present, which cell type harbors it? (neurons? satellite glia? macrophages?)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Available in this lab for DRG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805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snRNA-seq — pseudobulk per nucleus type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scRNA-seq — pseudobulk per cell type (if low RNA degradation)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Visium — spatial pseudobulk by tissue region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Xenium — single-molecule, cell-type assignment at subcellular resolution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594360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261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Technical challenges and solutions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37360"/>
            <a:ext cx="5669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773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855"/>
                </a:solidFill>
                <a:latin typeface="Calibri"/>
              </a:rPr>
              <a:t>⚠  Fewer reads per cell barcode → lower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396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B273"/>
                </a:solidFill>
                <a:latin typeface="Calibri"/>
              </a:rPr>
              <a:t>→  Aggregate by cell type (pseudobulk) to recover read depth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606039"/>
            <a:ext cx="5669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264261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855"/>
                </a:solidFill>
                <a:latin typeface="Calibri"/>
              </a:rPr>
              <a:t>⚠  Host removal was not designed for 10x chemistry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0837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B273"/>
                </a:solidFill>
                <a:latin typeface="Calibri"/>
              </a:rPr>
              <a:t>→  STAR is already in the pipeline — same index, same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474720"/>
            <a:ext cx="5669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35112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855"/>
                </a:solidFill>
                <a:latin typeface="Calibri"/>
              </a:rPr>
              <a:t>⚠  False positive rate increases at low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770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B273"/>
                </a:solidFill>
                <a:latin typeface="Calibri"/>
              </a:rPr>
              <a:t>→  Same dual-DB competitive classification; artifact list still applies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343400"/>
            <a:ext cx="5669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4379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855"/>
                </a:solidFill>
                <a:latin typeface="Calibri"/>
              </a:rPr>
              <a:t>⚠  Cell-type assignment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745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B273"/>
                </a:solidFill>
                <a:latin typeface="Calibri"/>
              </a:rPr>
              <a:t>→  Use high-confidence clusters only; validate with canonical markers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5212079"/>
            <a:ext cx="5669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524865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855"/>
                </a:solidFill>
                <a:latin typeface="Calibri"/>
              </a:rPr>
              <a:t>⚠  Spatial data: spot contamination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61441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B273"/>
                </a:solidFill>
                <a:latin typeface="Calibri"/>
              </a:rPr>
              <a:t>→  Kraken2 confidence threshold ≥0.15 for spatial (stricter than bulk)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Paper 2: clinical cohort design — defining the study with the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The null result from healthy DRG is the baseline — now we need powered clinical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Conditions worth profiling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2560320" cy="67665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Postherpetic neuralgia (PHN)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664208"/>
            <a:ext cx="27432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73736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VZV reactivation in DRG → chronic pain; VZV DNA detectable in DRG by PCR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32304"/>
            <a:ext cx="2560320" cy="67665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Diabetic peripheral neuropathy (DPN)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432304"/>
            <a:ext cx="27432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2505456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Viral triggers (CMV, EBV) and metabolic inflammation; HERV-K de-repression?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2560320" cy="67665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3101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Multiple sclerosis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200400"/>
            <a:ext cx="27432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3273552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HERV-W/K elevated in MS; demyelination and nerve damage mechanisms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68496"/>
            <a:ext cx="2560320" cy="67665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07822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HIV-associated neuropathy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3968496"/>
            <a:ext cx="27432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63240" y="404164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Direct neurotropism + inflammatory neuropathy; retroviruses in DRG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36592"/>
            <a:ext cx="2560320" cy="67665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Opioid-associated neuropathy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4736592"/>
            <a:ext cx="27432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63240" y="480974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Chronic opioid exposure alters immune surveillance; HERV regulation?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04688"/>
            <a:ext cx="2560320" cy="67665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6144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Idiopathic small fiber neuropathy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5504688"/>
            <a:ext cx="27432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63240" y="5577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Unknown etiology — viral/autoimmune trigger an open question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188720"/>
            <a:ext cx="594360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1261872"/>
            <a:ext cx="56692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9C74F"/>
                </a:solidFill>
                <a:latin typeface="Calibri"/>
              </a:rPr>
              <a:t>Minimum study design requirements</a:t>
            </a:r>
            <a:endParaRPr lang="en-US" sz="1400" b="1" i="0" dirty="0">
              <a:solidFill>
                <a:srgbClr val="F9C74F"/>
              </a:solidFill>
              <a:latin typeface="Calibri"/>
            </a:endParaRPr>
          </a:p>
          <a:p>
            <a:pPr algn="l"/>
            <a:r>
              <a:rPr lang="en-US" sz="1400" b="1" dirty="0">
                <a:solidFill>
                  <a:srgbClr val="F9C74F"/>
                </a:solidFill>
                <a:latin typeface="Calibri"/>
              </a:rPr>
              <a:t>-</a:t>
            </a:r>
            <a:endParaRPr lang="en-US" sz="1400" b="1" i="0" dirty="0">
              <a:solidFill>
                <a:srgbClr val="F9C74F"/>
              </a:solidFill>
              <a:latin typeface="Calibri"/>
            </a:endParaRPr>
          </a:p>
          <a:p>
            <a:pPr algn="l"/>
            <a:endParaRPr lang="en-US" sz="1400" b="1" dirty="0">
              <a:solidFill>
                <a:srgbClr val="F9C74F"/>
              </a:solidFill>
              <a:latin typeface="Calibri"/>
            </a:endParaRPr>
          </a:p>
          <a:p>
            <a:pPr algn="l"/>
            <a:endParaRPr lang="en-US" sz="1400" b="1" i="0" dirty="0">
              <a:solidFill>
                <a:srgbClr val="F9C74F"/>
              </a:solidFill>
              <a:latin typeface="Calibri"/>
            </a:endParaRPr>
          </a:p>
          <a:p>
            <a:pPr algn="l"/>
            <a:endParaRPr lang="en-US" sz="1400" b="1" dirty="0">
              <a:solidFill>
                <a:srgbClr val="F9C74F"/>
              </a:solidFill>
              <a:latin typeface="Calibri"/>
            </a:endParaRPr>
          </a:p>
          <a:p>
            <a:pPr algn="l"/>
            <a:endParaRPr sz="1400" b="1" i="0" dirty="0">
              <a:solidFill>
                <a:srgbClr val="F9C74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80760" y="16916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≥20 DRG donors per group (statistical power for differential abundance)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≥2 clinical groups (neuropathic vs. healthy, or condition-specific)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Tissue-paired samples: DRG + muscle from same surgical specimen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Clinical metadata: diagnosis, age, PMI, tissue handling protocol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Multiple spinal levels per donor where possible (intra-donor replication)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Competitive PlusPF classification (virome-pipeline already implements this)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✓ Alignment-based validation for any signal above detection floor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Next steps — and what I need from this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Immediate priorities, the data consolidation project, and the roadmap to a human neural virome 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56616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56616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Immediate (this quarter)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Jayden REJOIN cohort (473-1–473-17): 17 DRG samples — transfer FASTQs to Juno → run → 32 sample cohort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T. gondii BLAST validation (1,330 reads surviving PlusPF — the only unresolved signal)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Add HERV-K (taxon 45617) to artifact list formally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Obtain correct AIG1390 FASTQs from sequencing provider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SRA submission for the 15-sample cohort (paper 1 data availability)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188720"/>
            <a:ext cx="4023360" cy="5257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261872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The ask — data consolidation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EEEEEE"/>
                </a:solidFill>
                <a:latin typeface="Calibri"/>
              </a:rPr>
              <a:t>▸ Inventory all existing bulk RNA-seq samples: which donors, which tissues, which runs are on Juno or local drives?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EEEEE"/>
                </a:solidFill>
                <a:latin typeface="Calibri"/>
              </a:rPr>
              <a:t>▸ Identify samples with existing STAR indices / host-removed BAMs — can skip re-alignment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EEEEE"/>
                </a:solidFill>
                <a:latin typeface="Calibri"/>
              </a:rPr>
              <a:t>▸ Agree on a central FASTQ storage location on /groups/tprice/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EEEEE"/>
                </a:solidFill>
                <a:latin typeface="Calibri"/>
              </a:rPr>
              <a:t>▸ Define a samplesheet standard so any lab member can trigger a virome run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EEEEE"/>
                </a:solidFill>
                <a:latin typeface="Calibri"/>
              </a:rPr>
              <a:t>▸ Share sequencing metadata (tissue type, disease status, cohort name) for the combined atlas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EEEEE"/>
                </a:solidFill>
                <a:latin typeface="Calibri"/>
              </a:rPr>
              <a:t>▸ Flag samples with paired tissue designs — DRG + muscle from same donor is especially valuable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188720"/>
            <a:ext cx="356616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188720"/>
            <a:ext cx="356616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216152"/>
            <a:ext cx="338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Roadmap (6–18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1907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Paper 1 submission (Bioinformatics Application Note) — pending Zenodo DOI + SRA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32-sample cohort (Jayden) → expand to 50+ with lab bulk RNA-seq inventory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Clinical cohort definition with lab input on pain conditions to prioritize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Pseudobulk virome: snRNA-seq + Visium unmapped reads pipeline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Tissue expansion: spinal cord, TG, vagus nerve, sympathetic ganglia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Paper 2: DRG virome with clinical stratification (Journal of Virology / PLOS Pathogens)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9C74F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>
                <a:solidFill>
                  <a:srgbClr val="EEEEEE"/>
                </a:solidFill>
                <a:latin typeface="Calibri"/>
              </a:rPr>
              <a:t>▸ virome-pipeline solves the closed-world assumption problem for human neural tissue RNA-seq via competitive dual-database classification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EEEEEE"/>
                </a:solidFill>
                <a:latin typeface="Calibri"/>
              </a:rPr>
              <a:t>▸ Applied to 15 DRG + muscle samples: zero confirmed viral detections — 100% false positive rate for viral-only Kraken2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EEEEEE"/>
                </a:solidFill>
                <a:latin typeface="Calibri"/>
              </a:rPr>
              <a:t>▸ Three false positives fully resolved: HERV-K endogenous transcription (5.8× DRG enrichment), CMV k-mer artifact, sporadic contamination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EEEEEE"/>
                </a:solidFill>
                <a:latin typeface="Calibri"/>
              </a:rPr>
              <a:t>▸ HERV-K tissue differential is a real biological signal worth pursuing — testable hypothesis for neuropathic pain vs. control cohorts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EEEEEE"/>
                </a:solidFill>
                <a:latin typeface="Calibri"/>
              </a:rPr>
              <a:t>▸ Detection floor of ~10 RPM established — provides power calculation baseline for Paper 2</a:t>
            </a: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EEEEEE"/>
                </a:solidFill>
                <a:latin typeface="Calibri"/>
              </a:rPr>
              <a:t>▸ Pipeline is production-ready, containerized, HPC-deployed, and aligned with nf-core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The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4748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F"/>
                </a:solidFill>
                <a:latin typeface="Calibri"/>
              </a:rPr>
              <a:t>A systematic human neural virome atlas — across 12 tissue types, 10 sequencing modalities, and multiple pain/somatosensory conditions — built from the sequencing data this lab already has.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github.com/mwilde49/virome-pipeline  ·  virome-pipeline v1.3.0  ·  MIT 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3BB273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9523</TotalTime>
  <Words>3575</Words>
  <Application>Microsoft Office PowerPoint</Application>
  <PresentationFormat>Custom</PresentationFormat>
  <Paragraphs>390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Wilde</cp:lastModifiedBy>
  <cp:revision>3</cp:revision>
  <dcterms:created xsi:type="dcterms:W3CDTF">2013-01-27T09:14:16Z</dcterms:created>
  <dcterms:modified xsi:type="dcterms:W3CDTF">2026-04-04T12:59:36Z</dcterms:modified>
  <cp:category/>
</cp:coreProperties>
</file>