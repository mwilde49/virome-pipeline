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71" r:id="rId4"/>
    <p:sldId id="276" r:id="rId5"/>
    <p:sldId id="257" r:id="rId6"/>
    <p:sldId id="262" r:id="rId7"/>
    <p:sldId id="263" r:id="rId8"/>
    <p:sldId id="264" r:id="rId9"/>
    <p:sldId id="258" r:id="rId10"/>
    <p:sldId id="259" r:id="rId11"/>
    <p:sldId id="260" r:id="rId12"/>
    <p:sldId id="269" r:id="rId13"/>
    <p:sldId id="261" r:id="rId14"/>
    <p:sldId id="277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DRG Virome Pipeline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3464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BBBBB"/>
                </a:solidFill>
                <a:latin typeface="Calibri"/>
              </a:rPr>
              <a:t>M</a:t>
            </a:r>
            <a:r>
              <a:rPr lang="en-US" sz="1400" b="0" i="0" dirty="0">
                <a:solidFill>
                  <a:srgbClr val="BBBBBB"/>
                </a:solidFill>
                <a:latin typeface="Calibri"/>
              </a:rPr>
              <a:t>ichael Wilde  </a:t>
            </a:r>
            <a:r>
              <a:rPr sz="1400" b="0" i="0" dirty="0">
                <a:solidFill>
                  <a:srgbClr val="BBBBBB"/>
                </a:solidFill>
                <a:latin typeface="Calibri"/>
              </a:rPr>
              <a:t>·  </a:t>
            </a:r>
            <a:r>
              <a:rPr lang="en-US" sz="1400" b="0" i="0" dirty="0">
                <a:solidFill>
                  <a:srgbClr val="BBBBBB"/>
                </a:solidFill>
                <a:latin typeface="Calibri"/>
              </a:rPr>
              <a:t>CAPS</a:t>
            </a:r>
            <a:r>
              <a:rPr sz="1400" b="0" i="0" dirty="0">
                <a:solidFill>
                  <a:srgbClr val="BBBBBB"/>
                </a:solidFill>
                <a:latin typeface="Calibri"/>
              </a:rPr>
              <a:t>  · 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9728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Background  </a:t>
            </a:r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Pipeline  </a:t>
            </a:r>
            <a:endParaRPr lang="en-US" sz="1600" b="1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PD cohort results   </a:t>
            </a:r>
            <a:endParaRPr lang="en-US" sz="1600" b="1" i="0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sz="1600" b="1" i="0" dirty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96994"/>
          </a:xfrm>
          <a:prstGeom prst="rect">
            <a:avLst/>
          </a:prstGeom>
          <a:solidFill>
            <a:srgbClr val="2D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497" tIns="137124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lang="en-US" sz="3199" dirty="0"/>
              <a:t>HPC Pipeline Framework</a:t>
            </a:r>
            <a:endParaRPr sz="3199" dirty="0"/>
          </a:p>
          <a:p>
            <a:pPr algn="l">
              <a:defRPr sz="1600">
                <a:solidFill>
                  <a:srgbClr val="B4B4D2"/>
                </a:solidFill>
              </a:defRPr>
            </a:pPr>
            <a:r>
              <a:rPr sz="1600" dirty="0"/>
              <a:t>Three commands. Full reproducibility. Zero SLURM knowledge required.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497" y="1829217"/>
            <a:ext cx="3473815" cy="3199567"/>
          </a:xfrm>
          <a:prstGeom prst="roundRect">
            <a:avLst/>
          </a:prstGeom>
          <a:solidFill>
            <a:srgbClr val="F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182832" rtlCol="0" anchor="ctr"/>
          <a:lstStyle/>
          <a:p>
            <a:pPr algn="ctr">
              <a:defRPr sz="2000" b="1">
                <a:solidFill>
                  <a:srgbClr val="2D2D55"/>
                </a:solidFill>
              </a:defRPr>
            </a:pPr>
            <a:r>
              <a:rPr sz="1999"/>
              <a:t>1. SETUP</a:t>
            </a:r>
          </a:p>
          <a:p>
            <a:pPr>
              <a:spcBef>
                <a:spcPts val="1200"/>
              </a:spcBef>
              <a:defRPr sz="1600" b="1">
                <a:solidFill>
                  <a:srgbClr val="4682C8"/>
                </a:solidFill>
                <a:latin typeface="Courier New"/>
              </a:defRPr>
            </a:pPr>
            <a:r>
              <a:rPr sz="1600"/>
              <a:t>tjp-setup</a:t>
            </a:r>
          </a:p>
          <a:p>
            <a:pPr>
              <a:spcBef>
                <a:spcPts val="10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One-time workspace init.</a:t>
            </a:r>
            <a:br>
              <a:rPr sz="1400"/>
            </a:br>
            <a:r>
              <a:rPr sz="1400"/>
              <a:t>Copies config templates</a:t>
            </a:r>
            <a:br>
              <a:rPr sz="1400"/>
            </a:br>
            <a:r>
              <a:rPr sz="1400"/>
              <a:t>to your work directory.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7977" y="1829217"/>
            <a:ext cx="3473815" cy="3199567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182832" rtlCol="0" anchor="ctr"/>
          <a:lstStyle/>
          <a:p>
            <a:pPr algn="ctr">
              <a:defRPr sz="2000" b="1">
                <a:solidFill>
                  <a:srgbClr val="2D2D55"/>
                </a:solidFill>
              </a:defRPr>
            </a:pPr>
            <a:r>
              <a:rPr sz="1999" dirty="0"/>
              <a:t>2. CONFIGURE</a:t>
            </a:r>
          </a:p>
          <a:p>
            <a:pPr>
              <a:spcBef>
                <a:spcPts val="1200"/>
              </a:spcBef>
              <a:defRPr sz="1600" b="1">
                <a:solidFill>
                  <a:srgbClr val="4682C8"/>
                </a:solidFill>
                <a:latin typeface="Courier New"/>
              </a:defRPr>
            </a:pPr>
            <a:r>
              <a:rPr lang="en-US" sz="1600" dirty="0" err="1"/>
              <a:t>tjp</a:t>
            </a:r>
            <a:r>
              <a:rPr lang="en-US" sz="1600" dirty="0"/>
              <a:t>-e</a:t>
            </a:r>
            <a:r>
              <a:rPr sz="1600" dirty="0"/>
              <a:t>dit</a:t>
            </a:r>
            <a:r>
              <a:rPr lang="en-US" sz="1600" dirty="0"/>
              <a:t> </a:t>
            </a:r>
            <a:r>
              <a:rPr lang="en-US" sz="1600" dirty="0" err="1"/>
              <a:t>psoma</a:t>
            </a:r>
            <a:endParaRPr sz="1600" dirty="0"/>
          </a:p>
          <a:p>
            <a:pPr>
              <a:spcBef>
                <a:spcPts val="1000"/>
              </a:spcBef>
              <a:defRPr sz="1400">
                <a:solidFill>
                  <a:srgbClr val="323237"/>
                </a:solidFill>
              </a:defRPr>
            </a:pPr>
            <a:r>
              <a:rPr sz="1400" dirty="0"/>
              <a:t>Fill in your paths:</a:t>
            </a:r>
            <a:br>
              <a:rPr sz="1400" dirty="0"/>
            </a:br>
            <a:r>
              <a:rPr sz="1400" dirty="0"/>
              <a:t>FASTQs, reference genome,</a:t>
            </a:r>
            <a:br>
              <a:rPr sz="1400" dirty="0"/>
            </a:br>
            <a:r>
              <a:rPr sz="1400" dirty="0"/>
              <a:t>output location.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7456" y="1829217"/>
            <a:ext cx="3473815" cy="3199567"/>
          </a:xfrm>
          <a:prstGeom prst="roundRect">
            <a:avLst/>
          </a:prstGeom>
          <a:solidFill>
            <a:srgbClr val="E6F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182832" rtlCol="0" anchor="ctr"/>
          <a:lstStyle/>
          <a:p>
            <a:pPr algn="ctr">
              <a:defRPr sz="2000" b="1">
                <a:solidFill>
                  <a:srgbClr val="2D2D55"/>
                </a:solidFill>
              </a:defRPr>
            </a:pPr>
            <a:r>
              <a:rPr sz="1999"/>
              <a:t>3. LAUNCH</a:t>
            </a:r>
          </a:p>
          <a:p>
            <a:pPr>
              <a:spcBef>
                <a:spcPts val="1200"/>
              </a:spcBef>
              <a:defRPr sz="1600" b="1">
                <a:solidFill>
                  <a:srgbClr val="4682C8"/>
                </a:solidFill>
                <a:latin typeface="Courier New"/>
              </a:defRPr>
            </a:pPr>
            <a:r>
              <a:rPr sz="1600"/>
              <a:t>tjp-launch psoma</a:t>
            </a:r>
          </a:p>
          <a:p>
            <a:pPr>
              <a:spcBef>
                <a:spcPts val="10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Validates config, creates</a:t>
            </a:r>
            <a:br>
              <a:rPr sz="1400"/>
            </a:br>
            <a:r>
              <a:rPr sz="1400"/>
              <a:t>run directory, submits job.</a:t>
            </a:r>
            <a:br>
              <a:rPr sz="1400"/>
            </a:br>
            <a:r>
              <a:rPr sz="1400"/>
              <a:t>You're done.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39479" y="3200459"/>
            <a:ext cx="457081" cy="365665"/>
          </a:xfrm>
          <a:prstGeom prst="right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7" name="Right Arrow 6"/>
          <p:cNvSpPr/>
          <p:nvPr/>
        </p:nvSpPr>
        <p:spPr>
          <a:xfrm>
            <a:off x="7678959" y="3200459"/>
            <a:ext cx="457081" cy="365665"/>
          </a:xfrm>
          <a:prstGeom prst="right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8" name="TextBox 7"/>
          <p:cNvSpPr txBox="1"/>
          <p:nvPr/>
        </p:nvSpPr>
        <p:spPr>
          <a:xfrm>
            <a:off x="548496" y="5303032"/>
            <a:ext cx="10969943" cy="33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2"/>
                </a:solidFill>
              </a:defRPr>
            </a:pPr>
            <a:r>
              <a:rPr sz="1600"/>
              <a:t>Every run is automatically tracked: config snapshot, reproducibility manifest, archived inputs &amp; outputs.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893"/>
            <a:ext cx="12188520" cy="1096994"/>
          </a:xfrm>
          <a:prstGeom prst="rect">
            <a:avLst/>
          </a:prstGeom>
          <a:solidFill>
            <a:srgbClr val="2D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497" tIns="137124" rtlCol="0" anchor="ctr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rPr sz="3199"/>
              <a:t>Architecture</a:t>
            </a:r>
          </a:p>
          <a:p>
            <a:pPr algn="l">
              <a:defRPr sz="1600">
                <a:solidFill>
                  <a:srgbClr val="B4B4D2"/>
                </a:solidFill>
              </a:defRPr>
            </a:pPr>
            <a:r>
              <a:rPr sz="1600"/>
              <a:t>Four layers, each with a single responsibility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496" y="1372136"/>
            <a:ext cx="10969943" cy="1005578"/>
          </a:xfrm>
          <a:prstGeom prst="roundRect">
            <a:avLst/>
          </a:prstGeom>
          <a:solidFill>
            <a:srgbClr val="FAF0FF"/>
          </a:solidFill>
          <a:ln w="19050">
            <a:solidFill>
              <a:srgbClr val="825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91416" rtlCol="0" anchor="ctr"/>
          <a:lstStyle/>
          <a:p>
            <a:pPr algn="ctr"/>
            <a:r>
              <a:rPr sz="2199" b="1">
                <a:solidFill>
                  <a:srgbClr val="825AAA"/>
                </a:solidFill>
              </a:rPr>
              <a:t>CONFIG  </a:t>
            </a:r>
            <a:r>
              <a:rPr sz="1400">
                <a:solidFill>
                  <a:srgbClr val="787882"/>
                </a:solidFill>
              </a:rPr>
              <a:t>(templates/)</a:t>
            </a:r>
          </a:p>
          <a:p>
            <a:pPr>
              <a:spcBef>
                <a:spcPts val="2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YAML files with user parameters</a:t>
            </a:r>
            <a:br>
              <a:rPr sz="1400"/>
            </a:br>
            <a:r>
              <a:rPr sz="1400"/>
              <a:t>(paths, references, resources)</a:t>
            </a:r>
          </a:p>
        </p:txBody>
      </p:sp>
      <p:sp>
        <p:nvSpPr>
          <p:cNvPr id="4" name="Down Arrow 3"/>
          <p:cNvSpPr/>
          <p:nvPr/>
        </p:nvSpPr>
        <p:spPr>
          <a:xfrm>
            <a:off x="5759219" y="2377714"/>
            <a:ext cx="365665" cy="228540"/>
          </a:xfrm>
          <a:prstGeom prst="down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5" name="Rounded Rectangle 4"/>
          <p:cNvSpPr/>
          <p:nvPr/>
        </p:nvSpPr>
        <p:spPr>
          <a:xfrm>
            <a:off x="548496" y="2606254"/>
            <a:ext cx="10969943" cy="1005578"/>
          </a:xfrm>
          <a:prstGeom prst="roundRect">
            <a:avLst/>
          </a:prstGeom>
          <a:solidFill>
            <a:srgbClr val="E8F0FF"/>
          </a:solidFill>
          <a:ln w="19050">
            <a:solidFill>
              <a:srgbClr val="4682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91416" rtlCol="0" anchor="ctr"/>
          <a:lstStyle/>
          <a:p>
            <a:pPr algn="ctr"/>
            <a:r>
              <a:rPr sz="2199" b="1">
                <a:solidFill>
                  <a:srgbClr val="4682C8"/>
                </a:solidFill>
              </a:rPr>
              <a:t>CLI  </a:t>
            </a:r>
            <a:r>
              <a:rPr sz="1400">
                <a:solidFill>
                  <a:srgbClr val="787882"/>
                </a:solidFill>
              </a:rPr>
              <a:t>(bin/tjp-*)</a:t>
            </a:r>
          </a:p>
          <a:p>
            <a:pPr>
              <a:spcBef>
                <a:spcPts val="2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Validates config, creates run dir,</a:t>
            </a:r>
            <a:br>
              <a:rPr sz="1400"/>
            </a:br>
            <a:r>
              <a:rPr sz="1400"/>
              <a:t>generates manifest, submits job</a:t>
            </a:r>
          </a:p>
        </p:txBody>
      </p:sp>
      <p:sp>
        <p:nvSpPr>
          <p:cNvPr id="6" name="Down Arrow 5"/>
          <p:cNvSpPr/>
          <p:nvPr/>
        </p:nvSpPr>
        <p:spPr>
          <a:xfrm>
            <a:off x="5759219" y="3611833"/>
            <a:ext cx="365665" cy="228540"/>
          </a:xfrm>
          <a:prstGeom prst="down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7" name="Rounded Rectangle 6"/>
          <p:cNvSpPr/>
          <p:nvPr/>
        </p:nvSpPr>
        <p:spPr>
          <a:xfrm>
            <a:off x="548496" y="3840373"/>
            <a:ext cx="10969943" cy="1005578"/>
          </a:xfrm>
          <a:prstGeom prst="roundRect">
            <a:avLst/>
          </a:prstGeom>
          <a:solidFill>
            <a:srgbClr val="FFF3E6"/>
          </a:solidFill>
          <a:ln w="19050">
            <a:solidFill>
              <a:srgbClr val="C882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91416" rtlCol="0" anchor="ctr"/>
          <a:lstStyle/>
          <a:p>
            <a:pPr algn="ctr"/>
            <a:r>
              <a:rPr sz="2199" b="1">
                <a:solidFill>
                  <a:srgbClr val="C88232"/>
                </a:solidFill>
              </a:rPr>
              <a:t>SLURM  </a:t>
            </a:r>
            <a:r>
              <a:rPr sz="1400">
                <a:solidFill>
                  <a:srgbClr val="787882"/>
                </a:solidFill>
              </a:rPr>
              <a:t>(slurm_templates/)</a:t>
            </a:r>
          </a:p>
          <a:p>
            <a:pPr>
              <a:spcBef>
                <a:spcPts val="2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Allocates compute node,</a:t>
            </a:r>
            <a:br>
              <a:rPr sz="1400"/>
            </a:br>
            <a:r>
              <a:rPr sz="1400"/>
              <a:t>runs pre-flight checks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759219" y="4845951"/>
            <a:ext cx="365665" cy="228540"/>
          </a:xfrm>
          <a:prstGeom prst="down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9" name="Rounded Rectangle 8"/>
          <p:cNvSpPr/>
          <p:nvPr/>
        </p:nvSpPr>
        <p:spPr>
          <a:xfrm>
            <a:off x="548496" y="5074491"/>
            <a:ext cx="10969943" cy="1005578"/>
          </a:xfrm>
          <a:prstGeom prst="roundRect">
            <a:avLst/>
          </a:prstGeom>
          <a:solidFill>
            <a:srgbClr val="E6FAEB"/>
          </a:solidFill>
          <a:ln w="19050">
            <a:solidFill>
              <a:srgbClr val="3CA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91416" rtlCol="0" anchor="ctr"/>
          <a:lstStyle/>
          <a:p>
            <a:pPr algn="ctr"/>
            <a:r>
              <a:rPr sz="2199" b="1">
                <a:solidFill>
                  <a:srgbClr val="3CA05A"/>
                </a:solidFill>
              </a:rPr>
              <a:t>EXECUTION  </a:t>
            </a:r>
            <a:r>
              <a:rPr sz="1400">
                <a:solidFill>
                  <a:srgbClr val="787882"/>
                </a:solidFill>
              </a:rPr>
              <a:t>(containers/ or native)</a:t>
            </a:r>
          </a:p>
          <a:p>
            <a:pPr>
              <a:spcBef>
                <a:spcPts val="2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Runs the science inside container</a:t>
            </a:r>
            <a:br>
              <a:rPr sz="1400"/>
            </a:br>
            <a:r>
              <a:rPr sz="1400"/>
              <a:t>or via native 10x binary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26BA3E9-932D-ADD4-D404-3501CFA22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893"/>
            <a:ext cx="12188825" cy="68562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4794-8C65-0B9A-0871-AC0B57419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844C019-3351-E479-7E34-AFAA2FAD2017}"/>
              </a:ext>
            </a:extLst>
          </p:cNvPr>
          <p:cNvSpPr/>
          <p:nvPr/>
        </p:nvSpPr>
        <p:spPr>
          <a:xfrm>
            <a:off x="0" y="893"/>
            <a:ext cx="12188520" cy="1096994"/>
          </a:xfrm>
          <a:prstGeom prst="rect">
            <a:avLst/>
          </a:prstGeom>
          <a:solidFill>
            <a:srgbClr val="2D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497" tIns="137124"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US" sz="3199" dirty="0"/>
              <a:t>HPC Pipeline Framework</a:t>
            </a:r>
            <a:endParaRPr sz="3199" dirty="0"/>
          </a:p>
          <a:p>
            <a:pPr algn="l">
              <a:defRPr sz="1600">
                <a:solidFill>
                  <a:srgbClr val="B4B4D2"/>
                </a:solidFill>
              </a:defRPr>
            </a:pPr>
            <a:r>
              <a:rPr sz="1600" dirty="0"/>
              <a:t>Three commands. Full reproducibility. Zero SLURM knowledge required.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9EB8F10-AE37-07B3-9328-D114DA7D6BA7}"/>
              </a:ext>
            </a:extLst>
          </p:cNvPr>
          <p:cNvSpPr/>
          <p:nvPr/>
        </p:nvSpPr>
        <p:spPr>
          <a:xfrm>
            <a:off x="548497" y="1829217"/>
            <a:ext cx="3473815" cy="3199567"/>
          </a:xfrm>
          <a:prstGeom prst="roundRect">
            <a:avLst/>
          </a:prstGeom>
          <a:solidFill>
            <a:srgbClr val="F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182832" rtlCol="0" anchor="ctr"/>
          <a:lstStyle/>
          <a:p>
            <a:pPr algn="ctr">
              <a:defRPr sz="2000" b="1">
                <a:solidFill>
                  <a:srgbClr val="2D2D55"/>
                </a:solidFill>
              </a:defRPr>
            </a:pPr>
            <a:r>
              <a:rPr sz="1999"/>
              <a:t>1. SETUP</a:t>
            </a:r>
          </a:p>
          <a:p>
            <a:pPr>
              <a:spcBef>
                <a:spcPts val="1200"/>
              </a:spcBef>
              <a:defRPr sz="1600" b="1">
                <a:solidFill>
                  <a:srgbClr val="4682C8"/>
                </a:solidFill>
                <a:latin typeface="Courier New"/>
              </a:defRPr>
            </a:pPr>
            <a:r>
              <a:rPr sz="1600"/>
              <a:t>tjp-setup</a:t>
            </a:r>
          </a:p>
          <a:p>
            <a:pPr>
              <a:spcBef>
                <a:spcPts val="10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One-time workspace init.</a:t>
            </a:r>
            <a:br>
              <a:rPr sz="1400"/>
            </a:br>
            <a:r>
              <a:rPr sz="1400"/>
              <a:t>Copies config templates</a:t>
            </a:r>
            <a:br>
              <a:rPr sz="1400"/>
            </a:br>
            <a:r>
              <a:rPr sz="1400"/>
              <a:t>to your work directory.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E04E8F-2006-2BC7-F94B-DEFF1D13BEFB}"/>
              </a:ext>
            </a:extLst>
          </p:cNvPr>
          <p:cNvSpPr/>
          <p:nvPr/>
        </p:nvSpPr>
        <p:spPr>
          <a:xfrm>
            <a:off x="4387977" y="1829217"/>
            <a:ext cx="3473815" cy="3199567"/>
          </a:xfrm>
          <a:prstGeom prst="round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182832" rtlCol="0" anchor="ctr"/>
          <a:lstStyle/>
          <a:p>
            <a:pPr algn="ctr">
              <a:defRPr sz="2000" b="1">
                <a:solidFill>
                  <a:srgbClr val="2D2D55"/>
                </a:solidFill>
              </a:defRPr>
            </a:pPr>
            <a:r>
              <a:rPr sz="1999" dirty="0"/>
              <a:t>2. CONFIGURE</a:t>
            </a:r>
          </a:p>
          <a:p>
            <a:pPr>
              <a:spcBef>
                <a:spcPts val="1200"/>
              </a:spcBef>
              <a:defRPr sz="1600" b="1">
                <a:solidFill>
                  <a:srgbClr val="4682C8"/>
                </a:solidFill>
                <a:latin typeface="Courier New"/>
              </a:defRPr>
            </a:pPr>
            <a:r>
              <a:rPr lang="en-US" sz="1600" dirty="0" err="1"/>
              <a:t>tjp</a:t>
            </a:r>
            <a:r>
              <a:rPr lang="en-US" sz="1600" dirty="0"/>
              <a:t>-e</a:t>
            </a:r>
            <a:r>
              <a:rPr sz="1600" dirty="0"/>
              <a:t>dit</a:t>
            </a:r>
            <a:r>
              <a:rPr lang="en-US" sz="1600" dirty="0"/>
              <a:t> </a:t>
            </a:r>
            <a:r>
              <a:rPr lang="en-US" sz="1600" dirty="0" err="1"/>
              <a:t>psoma</a:t>
            </a:r>
            <a:endParaRPr sz="1600" dirty="0"/>
          </a:p>
          <a:p>
            <a:pPr>
              <a:spcBef>
                <a:spcPts val="1000"/>
              </a:spcBef>
              <a:defRPr sz="1400">
                <a:solidFill>
                  <a:srgbClr val="323237"/>
                </a:solidFill>
              </a:defRPr>
            </a:pPr>
            <a:r>
              <a:rPr sz="1400" dirty="0"/>
              <a:t>Fill in your paths:</a:t>
            </a:r>
            <a:br>
              <a:rPr sz="1400" dirty="0"/>
            </a:br>
            <a:r>
              <a:rPr sz="1400" dirty="0"/>
              <a:t>FASTQs, reference genome,</a:t>
            </a:r>
            <a:br>
              <a:rPr sz="1400" dirty="0"/>
            </a:br>
            <a:r>
              <a:rPr sz="1400" dirty="0"/>
              <a:t>output location.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F0E5D4E-A000-844D-8EA5-9CA46FD55332}"/>
              </a:ext>
            </a:extLst>
          </p:cNvPr>
          <p:cNvSpPr/>
          <p:nvPr/>
        </p:nvSpPr>
        <p:spPr>
          <a:xfrm>
            <a:off x="8227456" y="1829217"/>
            <a:ext cx="3473815" cy="3199567"/>
          </a:xfrm>
          <a:prstGeom prst="roundRect">
            <a:avLst/>
          </a:prstGeom>
          <a:solidFill>
            <a:srgbClr val="E6F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32" tIns="182832" rtlCol="0" anchor="ctr"/>
          <a:lstStyle/>
          <a:p>
            <a:pPr algn="ctr">
              <a:defRPr sz="2000" b="1">
                <a:solidFill>
                  <a:srgbClr val="2D2D55"/>
                </a:solidFill>
              </a:defRPr>
            </a:pPr>
            <a:r>
              <a:rPr sz="1999"/>
              <a:t>3. LAUNCH</a:t>
            </a:r>
          </a:p>
          <a:p>
            <a:pPr>
              <a:spcBef>
                <a:spcPts val="1200"/>
              </a:spcBef>
              <a:defRPr sz="1600" b="1">
                <a:solidFill>
                  <a:srgbClr val="4682C8"/>
                </a:solidFill>
                <a:latin typeface="Courier New"/>
              </a:defRPr>
            </a:pPr>
            <a:r>
              <a:rPr sz="1600"/>
              <a:t>tjp-launch psoma</a:t>
            </a:r>
          </a:p>
          <a:p>
            <a:pPr>
              <a:spcBef>
                <a:spcPts val="1000"/>
              </a:spcBef>
              <a:defRPr sz="1400">
                <a:solidFill>
                  <a:srgbClr val="323237"/>
                </a:solidFill>
              </a:defRPr>
            </a:pPr>
            <a:r>
              <a:rPr sz="1400"/>
              <a:t>Validates config, creates</a:t>
            </a:r>
            <a:br>
              <a:rPr sz="1400"/>
            </a:br>
            <a:r>
              <a:rPr sz="1400"/>
              <a:t>run directory, submits job.</a:t>
            </a:r>
            <a:br>
              <a:rPr sz="1400"/>
            </a:br>
            <a:r>
              <a:rPr sz="1400"/>
              <a:t>You're done.</a:t>
            </a:r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38A43E2E-8F79-9323-6987-AFF68165B233}"/>
              </a:ext>
            </a:extLst>
          </p:cNvPr>
          <p:cNvSpPr/>
          <p:nvPr/>
        </p:nvSpPr>
        <p:spPr>
          <a:xfrm>
            <a:off x="3839479" y="3200459"/>
            <a:ext cx="457081" cy="365665"/>
          </a:xfrm>
          <a:prstGeom prst="right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243B701-7B58-EE36-4039-A67E658889F2}"/>
              </a:ext>
            </a:extLst>
          </p:cNvPr>
          <p:cNvSpPr/>
          <p:nvPr/>
        </p:nvSpPr>
        <p:spPr>
          <a:xfrm>
            <a:off x="7678959" y="3200459"/>
            <a:ext cx="457081" cy="365665"/>
          </a:xfrm>
          <a:prstGeom prst="rightArrow">
            <a:avLst/>
          </a:prstGeom>
          <a:solidFill>
            <a:srgbClr val="3C3C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799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9AC4C3-ED6A-EFF7-8AA8-9BA2A50FCAD5}"/>
              </a:ext>
            </a:extLst>
          </p:cNvPr>
          <p:cNvSpPr txBox="1"/>
          <p:nvPr/>
        </p:nvSpPr>
        <p:spPr>
          <a:xfrm>
            <a:off x="548496" y="5303032"/>
            <a:ext cx="10969943" cy="338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87882"/>
                </a:solidFill>
              </a:defRPr>
            </a:pPr>
            <a:r>
              <a:rPr sz="1600"/>
              <a:t>Every run is automatically tracked: config snapshot, reproducibility manifest, archived inputs &amp; outputs.</a:t>
            </a:r>
          </a:p>
        </p:txBody>
      </p:sp>
    </p:spTree>
    <p:extLst>
      <p:ext uri="{BB962C8B-B14F-4D97-AF65-F5344CB8AC3E}">
        <p14:creationId xmlns:p14="http://schemas.microsoft.com/office/powerpoint/2010/main" val="2104359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>
                <a:solidFill>
                  <a:srgbClr val="1A1A2E"/>
                </a:solidFill>
                <a:latin typeface="Calibri"/>
              </a:rPr>
              <a:t>Viral Expression in DRG</a:t>
            </a:r>
            <a:endParaRPr sz="2600" b="1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B2D8B"/>
                </a:solidFill>
                <a:latin typeface="Calibri"/>
              </a:rPr>
              <a:t>The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58100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Neurotropic viruses (HSV-1, VZV, CMV) establish latency in DRG</a:t>
            </a: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Viral reactivation implicated in neuropathic pain, neurodegeneration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(ALS, MS)</a:t>
            </a:r>
            <a:endParaRPr sz="130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HSV-1 linked to Parkinson's in epidemiological studies</a:t>
            </a: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No systematic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virome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profiling of human DRG has been reported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AB"/>
                </a:solidFill>
                <a:latin typeface="Calibri"/>
              </a:rPr>
              <a:t>The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5303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Use existing bulk RNA-seq  host-deplete with STAR, classify with Kraken2</a:t>
            </a: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Dual-database classification: viral-only vs.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PlusPF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(full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taxonomy</a:t>
            </a:r>
            <a:r>
              <a:rPr sz="1300" dirty="0">
                <a:solidFill>
                  <a:srgbClr val="1A1A2E"/>
                </a:solidFill>
                <a:latin typeface="Calibri"/>
              </a:rPr>
              <a:t>)</a:t>
            </a: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Only taxa detected in BOTH databases = Tier 1 (confirmed)</a:t>
            </a:r>
          </a:p>
          <a:p>
            <a:pPr>
              <a:spcBef>
                <a:spcPts val="8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Baseline cohort (16 non-PD donors): Tier 1 = 0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(null validation)</a:t>
            </a:r>
            <a:endParaRPr sz="13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74320" y="4389120"/>
            <a:ext cx="11612880" cy="21031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44805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F"/>
                </a:solidFill>
                <a:latin typeface="Calibri"/>
              </a:rPr>
              <a:t>What's new: Parkinson's DRG cohort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937760"/>
            <a:ext cx="11247120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300" dirty="0">
                <a:solidFill>
                  <a:srgbClr val="EEEEEE"/>
                </a:solidFill>
                <a:latin typeface="Calibri"/>
              </a:rPr>
              <a:t>▸ 20 new DRG samples: 14 PD patients + 6 unclassified controls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rgbClr val="EEEEEE"/>
                </a:solidFill>
                <a:latin typeface="Calibri"/>
              </a:rPr>
              <a:t>▸ Same pipeline, same dual-database classification — first application to a disease cohort</a:t>
            </a:r>
          </a:p>
          <a:p>
            <a:pPr>
              <a:spcBef>
                <a:spcPts val="700"/>
              </a:spcBef>
            </a:pPr>
            <a:r>
              <a:rPr sz="1300" dirty="0">
                <a:solidFill>
                  <a:srgbClr val="EEEEEE"/>
                </a:solidFill>
                <a:latin typeface="Calibri"/>
              </a:rPr>
              <a:t>▸ Result: the first Tier 1 detection across all 36 donors profiled to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1A1A2E"/>
                </a:solidFill>
                <a:latin typeface="Calibri"/>
              </a:rPr>
              <a:t>Virus Detection </a:t>
            </a:r>
            <a:r>
              <a:rPr sz="2800" b="1" i="0" dirty="0">
                <a:solidFill>
                  <a:srgbClr val="1A1A2E"/>
                </a:solidFill>
                <a:latin typeface="Calibri"/>
              </a:rPr>
              <a:t>Pipeline architecture — v1.5.0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7-step Nextflow DSL2 workflow + dual-database branch + BLAST verification offshoot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1_pipelin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108" y="1104742"/>
            <a:ext cx="7150803" cy="554751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17710" y="6538446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9E9E9E"/>
                </a:solidFill>
                <a:latin typeface="Calibri"/>
              </a:rPr>
              <a:t>All steps containerized (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Apptainer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) | SLURM-ready | Each process in its own .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sif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container | 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stageInMode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= 'copy' for 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Apptainer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9E9E9E"/>
                </a:solidFill>
                <a:latin typeface="Calibri"/>
              </a:rPr>
              <a:t>symlink</a:t>
            </a:r>
            <a:r>
              <a:rPr sz="900" b="0" i="1" dirty="0">
                <a:solidFill>
                  <a:srgbClr val="9E9E9E"/>
                </a:solidFill>
                <a:latin typeface="Calibri"/>
              </a:rPr>
              <a:t> compatibility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The core innovation: dual-database competitive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Run every sample through two Kraken2 databases simultaneously — only signals surviving both are real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347472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3474720" cy="45720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161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 1: Viral-only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91640"/>
            <a:ext cx="3291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~10,000 viral genomes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No non-viral sequences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Closed-world: every read forced into a viral bin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Maximizes sensitivity</a:t>
            </a:r>
          </a:p>
          <a:p>
            <a:pPr>
              <a:spcBef>
                <a:spcPts val="600"/>
              </a:spcBef>
            </a:pPr>
            <a:r>
              <a:rPr sz="1250">
                <a:solidFill>
                  <a:srgbClr val="1A1A2E"/>
                </a:solidFill>
                <a:latin typeface="Calibri"/>
              </a:rPr>
              <a:t>▸ But: 100% FP rate in baseline cohort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143000"/>
            <a:ext cx="4114800" cy="5257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0" y="12070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Three-tier confidence scoring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1783080"/>
            <a:ext cx="3840480" cy="132588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185623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1 — Shared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221992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Detected in BOTH databases
High-confidence viral candidate
Use for 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5623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HSV-1 in PD19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60520" y="3291839"/>
            <a:ext cx="3840480" cy="132588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251960" y="33649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2 — Viral-only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3730751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Viral-only DB exclusive
False positive candidates
Investigate before interpreting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413" y="3364991"/>
            <a:ext cx="17694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 dirty="0">
                <a:solidFill>
                  <a:srgbClr val="1A1A2E"/>
                </a:solidFill>
                <a:latin typeface="Calibri"/>
              </a:rPr>
              <a:t>HERV-K, CMV proxy,</a:t>
            </a:r>
            <a:r>
              <a:rPr lang="en-US" sz="1100" b="1" i="0" dirty="0">
                <a:solidFill>
                  <a:srgbClr val="1A1A2E"/>
                </a:solidFill>
                <a:latin typeface="Calibri"/>
              </a:rPr>
              <a:t> </a:t>
            </a:r>
            <a:r>
              <a:rPr sz="1100" b="1" i="0" dirty="0">
                <a:solidFill>
                  <a:srgbClr val="1A1A2E"/>
                </a:solidFill>
                <a:latin typeface="Calibri"/>
              </a:rPr>
              <a:t>MCV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800600"/>
            <a:ext cx="3840480" cy="1325880"/>
          </a:xfrm>
          <a:prstGeom prst="rect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51960" y="48737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Tier 3 — PlusPF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51960" y="5239512"/>
            <a:ext cx="2286000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 err="1">
                <a:solidFill>
                  <a:srgbClr val="1A1A2E"/>
                </a:solidFill>
                <a:latin typeface="Calibri"/>
              </a:rPr>
              <a:t>PlusPF</a:t>
            </a:r>
            <a:r>
              <a:rPr sz="1050" b="0" i="0" dirty="0">
                <a:solidFill>
                  <a:srgbClr val="1A1A2E"/>
                </a:solidFill>
                <a:latin typeface="Calibri"/>
              </a:rPr>
              <a:t>-only
Non-viral contaminants
</a:t>
            </a:r>
            <a:r>
              <a:rPr lang="en-US" sz="1050" b="0" i="0" dirty="0">
                <a:solidFill>
                  <a:srgbClr val="1A1A2E"/>
                </a:solidFill>
                <a:latin typeface="Calibri"/>
              </a:rPr>
              <a:t>Quality Control</a:t>
            </a:r>
            <a:endParaRPr sz="1050" b="0" i="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00800" y="4873752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1A1A2E"/>
                </a:solidFill>
                <a:latin typeface="Calibri"/>
              </a:rPr>
              <a:t>10–826 taxa / sample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66760" y="1143000"/>
            <a:ext cx="3474720" cy="5257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366760" y="1143000"/>
            <a:ext cx="3474720" cy="4572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11612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Database 2: PlusPF (standard)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1691640"/>
            <a:ext cx="3291840" cy="13619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Full bacterial, archaeal, viral, fungal + human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~100 GB</a:t>
            </a:r>
            <a:r>
              <a:rPr lang="en-US" sz="1250" dirty="0">
                <a:solidFill>
                  <a:srgbClr val="1A1A2E"/>
                </a:solidFill>
                <a:latin typeface="Calibri"/>
              </a:rPr>
              <a:t>, </a:t>
            </a:r>
            <a:r>
              <a:rPr sz="1250" dirty="0">
                <a:solidFill>
                  <a:srgbClr val="1A1A2E"/>
                </a:solidFill>
                <a:latin typeface="Calibri"/>
              </a:rPr>
              <a:t> human genome included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Open-world: reads compete against host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HERV-K → reclassified to Homo sapiens</a:t>
            </a:r>
          </a:p>
          <a:p>
            <a:pPr>
              <a:spcBef>
                <a:spcPts val="6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CMV proxy → </a:t>
            </a:r>
            <a:r>
              <a:rPr lang="en-US" sz="1250" dirty="0">
                <a:solidFill>
                  <a:srgbClr val="1A1A2E"/>
                </a:solidFill>
                <a:latin typeface="Calibri"/>
              </a:rPr>
              <a:t>looking like an artifact</a:t>
            </a:r>
            <a:endParaRPr sz="1250" dirty="0">
              <a:solidFill>
                <a:srgbClr val="1A1A2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Multi-stage filtering + curated artifact exclusion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Bracken raw → min-reads threshold (≥5) → 24-entry artifact exclusion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2_filtering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1" y="1943100"/>
            <a:ext cx="5864410" cy="19888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43600" y="1188720"/>
            <a:ext cx="594360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80760" y="1261872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Three output matrices per cohort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169164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80760" y="1691640"/>
            <a:ext cx="137160" cy="1188720"/>
          </a:xfrm>
          <a:prstGeom prst="rect">
            <a:avLst/>
          </a:prstGeom>
          <a:solidFill>
            <a:srgbClr val="F9C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09360" y="1783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C74F"/>
                </a:solidFill>
                <a:latin typeface="Calibri"/>
              </a:rPr>
              <a:t>bracken_raw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4884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All viral species from Bracken
No threshold</a:t>
            </a:r>
            <a:r>
              <a:rPr lang="en-US" sz="1100" dirty="0">
                <a:solidFill>
                  <a:srgbClr val="1A1A2E"/>
                </a:solidFill>
                <a:latin typeface="Calibri"/>
              </a:rPr>
              <a:t> as</a:t>
            </a:r>
            <a:r>
              <a:rPr sz="1100" b="0" i="0" dirty="0">
                <a:solidFill>
                  <a:srgbClr val="1A1A2E"/>
                </a:solidFill>
                <a:latin typeface="Calibri"/>
              </a:rPr>
              <a:t> baseline for QC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97180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80760" y="2971800"/>
            <a:ext cx="137160" cy="11887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3063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  <a:latin typeface="Calibri"/>
              </a:rPr>
              <a:t>minreads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52120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1A1A2E"/>
                </a:solidFill>
                <a:latin typeface="Calibri"/>
              </a:rPr>
              <a:t>≥5 reads per taxon per sample
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80760" y="4251960"/>
            <a:ext cx="55778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80760" y="4251960"/>
            <a:ext cx="137160" cy="118872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43434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B273"/>
                </a:solidFill>
                <a:latin typeface="Calibri"/>
              </a:rPr>
              <a:t>final (filtered)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0916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Curated artifact exclusion applied
24 taxa: phages, reagent contaminants, env. metagenome, cross-mapping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562356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Calibri"/>
              </a:rPr>
              <a:t>Artifact 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5844183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>
                <a:solidFill>
                  <a:srgbClr val="9E9E9E"/>
                </a:solidFill>
                <a:latin typeface="Calibri"/>
              </a:rPr>
              <a:t>Reagent contaminants · ruminant </a:t>
            </a:r>
            <a:r>
              <a:rPr sz="950" b="0" i="0" dirty="0" err="1">
                <a:solidFill>
                  <a:srgbClr val="9E9E9E"/>
                </a:solidFill>
                <a:latin typeface="Calibri"/>
              </a:rPr>
              <a:t>orthobunyaviruses</a:t>
            </a:r>
            <a:r>
              <a:rPr sz="950" b="0" i="0" dirty="0">
                <a:solidFill>
                  <a:srgbClr val="9E9E9E"/>
                </a:solidFill>
                <a:latin typeface="Calibri"/>
              </a:rPr>
              <a:t> · insect baculoviruses · phages (ICTV-reclassified) · DRG-specific env. metagenome cross-mapping · avian herpesviruses · giant amoeba viruses · hantaviruses (Oxbow)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Viral abundance heatmap — PD cohort (n=20)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132" y="960120"/>
            <a:ext cx="6368527" cy="55724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595360" y="914400"/>
            <a:ext cx="329184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32520" y="10058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32520" y="14173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HERV-K dominant in all samples (endogenous, not infection)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CMV proxy present but Tier 2 (k-mer artifact)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MCV sporadic (index hopping)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Simplexvirus humanalpha1 = HSV-1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HSV-1 detected ONLY in PD19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46 reads, 1.89 RPM</a:t>
            </a:r>
          </a:p>
          <a:p>
            <a:pPr>
              <a:spcBef>
                <a:spcPts val="600"/>
              </a:spcBef>
            </a:pPr>
            <a:r>
              <a:rPr sz="1150">
                <a:solidFill>
                  <a:srgbClr val="1A1A2E"/>
                </a:solidFill>
                <a:latin typeface="Calibri"/>
              </a:rPr>
              <a:t>▸ Absent from all other 19 samples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5212080"/>
            <a:ext cx="3291840" cy="9144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0" y="525780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HSV-1 in PD19 is the
only Tier 1 detection
across all 36 donors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log10(reads + 1) scale  |  Final filtered matrix (post-artifact exclusion)  |  'Human CMV (HHV-5) [proxy]' = k-mer artifact, not genuine CMV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Dual-database tier classification — PD cohort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db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846320"/>
            <a:ext cx="1161288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4937760"/>
            <a:ext cx="228600" cy="22860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4910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Shared (Tier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193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Detected in BOTH DBs = confirmed viral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468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B273"/>
                </a:solidFill>
                <a:latin typeface="Calibri"/>
              </a:rPr>
              <a:t>1 taxon in 1 sample (HSV-1, PD19)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4937760"/>
            <a:ext cx="228600" cy="228600"/>
          </a:xfrm>
          <a:prstGeom prst="rect">
            <a:avLst/>
          </a:prstGeom>
          <a:solidFill>
            <a:srgbClr val="F0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4910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Viral-only (Tier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5193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Viral-only DB exclusive = false positive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5468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09646"/>
                </a:solidFill>
                <a:latin typeface="Calibri"/>
              </a:rPr>
              <a:t>3 taxa per sample (HERV-K, CMV proxy, MCV)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4937760"/>
            <a:ext cx="228600" cy="228600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41080" y="4910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Calibri"/>
              </a:rPr>
              <a:t>PlusPF only (Tier 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51937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9E9E"/>
                </a:solidFill>
                <a:latin typeface="Calibri"/>
              </a:rPr>
              <a:t>Non-viral background contaminants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546811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B2D8B"/>
                </a:solidFill>
                <a:latin typeface="Calibri"/>
              </a:rPr>
              <a:t>15–30 taxa per sample (QC utility)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4922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E9E9E"/>
                </a:solidFill>
                <a:latin typeface="Calibri"/>
              </a:rPr>
              <a:t>PD19 is the only sample with a green (Shared) segment  |  Baseline cohort (n=16 non-PD donors) had zero Tier 1 detections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1A1A2E"/>
                </a:solidFill>
                <a:latin typeface="Calibri"/>
              </a:rPr>
              <a:t>PD19 HSV-1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20116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B273"/>
                </a:solidFill>
                <a:latin typeface="Calibri"/>
              </a:rPr>
              <a:t>46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reads (Kraken2)</a:t>
            </a:r>
          </a:p>
        </p:txBody>
      </p:sp>
      <p:sp>
        <p:nvSpPr>
          <p:cNvPr id="8" name="Rectangle 7"/>
          <p:cNvSpPr/>
          <p:nvPr/>
        </p:nvSpPr>
        <p:spPr>
          <a:xfrm>
            <a:off x="2514600" y="914400"/>
            <a:ext cx="20116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1460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BB273"/>
                </a:solidFill>
                <a:latin typeface="Calibri"/>
              </a:rPr>
              <a:t>1.89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RPM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914400"/>
            <a:ext cx="20116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6344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4855"/>
                </a:solidFill>
                <a:latin typeface="Calibri"/>
              </a:rPr>
              <a:t>1/36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donors with HSV-1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12280" y="914400"/>
            <a:ext cx="20116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1228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E86AB"/>
                </a:solidFill>
                <a:latin typeface="Calibri"/>
              </a:rPr>
              <a:t>0/22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non-PD with HSV-1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914400"/>
            <a:ext cx="2011680" cy="1005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0" y="987552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7B2D8B"/>
                </a:solidFill>
                <a:latin typeface="Calibri"/>
              </a:rPr>
              <a:t>1/14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48132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A1A2E"/>
                </a:solidFill>
                <a:latin typeface="Calibri"/>
              </a:rPr>
              <a:t>PD with HSV-1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B273"/>
                </a:solidFill>
                <a:latin typeface="Calibri"/>
              </a:rPr>
              <a:t>Why this is plausible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651760"/>
            <a:ext cx="5303520" cy="160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HSV-1 naturally establishes latency in sensory ganglia</a:t>
            </a: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Antiviral therapy linked to reduced PD risk in registries</a:t>
            </a:r>
            <a:r>
              <a:rPr lang="en-US" sz="1250" dirty="0">
                <a:solidFill>
                  <a:srgbClr val="1A1A2E"/>
                </a:solidFill>
                <a:latin typeface="Calibri"/>
              </a:rPr>
              <a:t> (UK </a:t>
            </a:r>
            <a:r>
              <a:rPr lang="en-US" sz="1250" dirty="0" err="1">
                <a:solidFill>
                  <a:srgbClr val="1A1A2E"/>
                </a:solidFill>
                <a:latin typeface="Calibri"/>
              </a:rPr>
              <a:t>BioBank</a:t>
            </a:r>
            <a:r>
              <a:rPr lang="en-US" sz="1250" dirty="0">
                <a:solidFill>
                  <a:srgbClr val="1A1A2E"/>
                </a:solidFill>
                <a:latin typeface="Calibri"/>
              </a:rPr>
              <a:t>)</a:t>
            </a:r>
            <a:endParaRPr sz="1250" dirty="0">
              <a:solidFill>
                <a:srgbClr val="1A1A2E"/>
              </a:solidFill>
              <a:latin typeface="Calibri"/>
            </a:endParaRP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Proposed mechanisms: retrograde transport, α-synuclein interaction, neuroinflammation</a:t>
            </a: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46 reads well above ~10 read noise floor</a:t>
            </a: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Survived competitive classification against full human genome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9C74F"/>
                </a:solidFill>
                <a:latin typeface="Calibri"/>
              </a:rPr>
              <a:t>What's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651760"/>
            <a:ext cx="5303520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BLAST verification (blast_verify.nf ready to run)</a:t>
            </a: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Life cycle phase: latency (LAT) or reactivation (IE/E/L)?</a:t>
            </a: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Genome coverage profile against NC_001806.2</a:t>
            </a:r>
          </a:p>
          <a:p>
            <a:pPr>
              <a:spcBef>
                <a:spcPts val="700"/>
              </a:spcBef>
            </a:pPr>
            <a:r>
              <a:rPr sz="1250" dirty="0">
                <a:solidFill>
                  <a:srgbClr val="1A1A2E"/>
                </a:solidFill>
                <a:latin typeface="Calibri"/>
              </a:rPr>
              <a:t>▸ Not statistically significant yet (Fisher's p ≈ 0.35, n=1)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623560"/>
            <a:ext cx="11612880" cy="7315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9C74F"/>
                </a:solidFill>
                <a:latin typeface="Calibri"/>
              </a:rPr>
              <a:t>This is a hypothesis, not a conclusion. BLAST validation and a larger cohort are required before any biological claim.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B2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A1A2E"/>
                </a:solidFill>
                <a:latin typeface="Calibri"/>
              </a:rPr>
              <a:t>HERV-K — a real biological signal worth tracking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E9E9E"/>
                </a:solidFill>
                <a:latin typeface="Calibri"/>
              </a:rPr>
              <a:t>5.8× DRG enrichment over muscle · reproduced across cohorts · first quantification of HERV-K in human DRG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12188952" cy="228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fig4_herv_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43000"/>
            <a:ext cx="6400800" cy="258961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949440" y="1188720"/>
            <a:ext cx="4937760" cy="5212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26187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  <a:latin typeface="Calibri"/>
              </a:rPr>
              <a:t>Cross-cohort HERV-K comparison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1737360"/>
            <a:ext cx="4663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78040" y="17922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Muscle (non-PD)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7922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1792224"/>
            <a:ext cx="1280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050" b="1" dirty="0">
                <a:solidFill>
                  <a:srgbClr val="7B2D8B"/>
                </a:solidFill>
                <a:latin typeface="Calibri"/>
              </a:rPr>
              <a:t>1</a:t>
            </a:r>
            <a:r>
              <a:rPr sz="1050" b="1" i="0" dirty="0">
                <a:solidFill>
                  <a:srgbClr val="7B2D8B"/>
                </a:solidFill>
                <a:latin typeface="Calibri"/>
              </a:rPr>
              <a:t>1.3 RPM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214884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78040" y="220370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donor1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0370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203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45.8 RPM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2560320"/>
            <a:ext cx="4663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78040" y="26151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Saad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61518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72.7 RPM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6600" y="2971800"/>
            <a:ext cx="46634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178040" y="302666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PD patients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02666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026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>
                <a:solidFill>
                  <a:srgbClr val="7B2D8B"/>
                </a:solidFill>
                <a:latin typeface="Calibri"/>
              </a:rPr>
              <a:t>31.8 RPM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86600" y="3383280"/>
            <a:ext cx="4663440" cy="384048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78040" y="34381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A1A2E"/>
                </a:solidFill>
                <a:latin typeface="Calibri"/>
              </a:rPr>
              <a:t>DRG — PD controls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43814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E9E9E"/>
                </a:solidFill>
                <a:latin typeface="Calibri"/>
              </a:rPr>
              <a:t>n=6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34381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" b="1" i="0" dirty="0">
                <a:solidFill>
                  <a:srgbClr val="7B2D8B"/>
                </a:solidFill>
                <a:latin typeface="Calibri"/>
              </a:rPr>
              <a:t>34.5 RPM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39319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Calibri"/>
              </a:rPr>
              <a:t>Implications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4251960"/>
            <a:ext cx="4663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HERV-K is NOT a virus — it's endogenous retroviral chromosomal transcription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DRG enrichment likely reflects neural-lineage chromatin accessibility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ALS literature: HERV-K Env protein in motor neurons (Li et al. 2015)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PD de-repression hypothesis NOT supported (PD RPM ≤ non-PD RPM)</a:t>
            </a:r>
          </a:p>
          <a:p>
            <a:pPr>
              <a:spcBef>
                <a:spcPts val="500"/>
              </a:spcBef>
            </a:pPr>
            <a:r>
              <a:rPr sz="1100">
                <a:solidFill>
                  <a:srgbClr val="1A1A2E"/>
                </a:solidFill>
                <a:latin typeface="Calibri"/>
              </a:rPr>
              <a:t>▸ Could serve as internal control — HERV-K RPM as library quality metric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1338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3794760" cy="50292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94183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This month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794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554480"/>
            <a:ext cx="352044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BLAST validation of PD19 HSV-1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Determine latency vs. reactivation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Begin compiling and cataloguing bulk seq</a:t>
            </a:r>
            <a:endParaRPr sz="13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251959" y="914400"/>
            <a:ext cx="3794760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89119" y="941832"/>
            <a:ext cx="35204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Soon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51959" y="1417320"/>
            <a:ext cx="3794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19" y="1554480"/>
            <a:ext cx="352044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Begin lab-wide bulk RNA-seq inventory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Compile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samplesheets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for existing data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 </a:t>
            </a:r>
          </a:p>
          <a:p>
            <a:pPr>
              <a:spcBef>
                <a:spcPts val="1000"/>
              </a:spcBef>
            </a:pPr>
            <a:r>
              <a:rPr lang="en-US" sz="1300" dirty="0">
                <a:solidFill>
                  <a:srgbClr val="1A1A2E"/>
                </a:solidFill>
              </a:rPr>
              <a:t>▸ Run across conditions (MS, COVID, </a:t>
            </a:r>
            <a:r>
              <a:rPr lang="en-US" sz="1300" dirty="0" err="1">
                <a:solidFill>
                  <a:srgbClr val="1A1A2E"/>
                </a:solidFill>
              </a:rPr>
              <a:t>etc</a:t>
            </a:r>
            <a:r>
              <a:rPr lang="en-US" sz="1300" dirty="0">
                <a:solidFill>
                  <a:srgbClr val="1A1A2E"/>
                </a:solidFill>
              </a:rPr>
              <a:t>)</a:t>
            </a:r>
            <a:endParaRPr lang="en-US" sz="1300" dirty="0">
              <a:solidFill>
                <a:srgbClr val="1A1A2E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229600" y="914400"/>
            <a:ext cx="3794760" cy="502920"/>
          </a:xfrm>
          <a:prstGeom prst="rect">
            <a:avLst/>
          </a:prstGeom>
          <a:solidFill>
            <a:srgbClr val="3BB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66760" y="941832"/>
            <a:ext cx="3520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Longer term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7947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66760" y="1554480"/>
            <a:ext cx="3520440" cy="948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100+ donor DRG 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virome</a:t>
            </a:r>
            <a:r>
              <a:rPr sz="1300" dirty="0">
                <a:solidFill>
                  <a:srgbClr val="1A1A2E"/>
                </a:solidFill>
                <a:latin typeface="Calibri"/>
              </a:rPr>
              <a:t> atlas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1A1A2E"/>
                </a:solidFill>
                <a:latin typeface="Calibri"/>
              </a:rPr>
              <a:t>conditions </a:t>
            </a:r>
            <a:r>
              <a:rPr sz="1300" dirty="0">
                <a:solidFill>
                  <a:srgbClr val="1A1A2E"/>
                </a:solidFill>
                <a:latin typeface="Calibri"/>
              </a:rPr>
              <a:t>comparison paper</a:t>
            </a:r>
          </a:p>
          <a:p>
            <a:pPr>
              <a:spcBef>
                <a:spcPts val="1000"/>
              </a:spcBef>
            </a:pPr>
            <a:r>
              <a:rPr sz="1300" dirty="0">
                <a:solidFill>
                  <a:srgbClr val="1A1A2E"/>
                </a:solidFill>
                <a:latin typeface="Calibri"/>
              </a:rPr>
              <a:t>▸ Expand to snRNA-seq / spatial (</a:t>
            </a:r>
            <a:r>
              <a:rPr sz="1300" dirty="0" err="1">
                <a:solidFill>
                  <a:srgbClr val="1A1A2E"/>
                </a:solidFill>
                <a:latin typeface="Calibri"/>
              </a:rPr>
              <a:t>pseudobulk</a:t>
            </a:r>
            <a:r>
              <a:rPr sz="1300" dirty="0">
                <a:solidFill>
                  <a:srgbClr val="1A1A2E"/>
                </a:solidFill>
                <a:latin typeface="Calibri"/>
              </a:rPr>
              <a:t>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12080"/>
            <a:ext cx="11612880" cy="13716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53035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9C74F"/>
                </a:solidFill>
                <a:latin typeface="Calibri"/>
              </a:rPr>
              <a:t>The ask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15000"/>
            <a:ext cx="112471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EEEEEE"/>
                </a:solidFill>
                <a:latin typeface="Calibri"/>
              </a:rPr>
              <a:t>▸ </a:t>
            </a:r>
            <a:r>
              <a:rPr lang="en-US" sz="1300" dirty="0">
                <a:solidFill>
                  <a:srgbClr val="EEEEEE"/>
                </a:solidFill>
                <a:latin typeface="Calibri"/>
              </a:rPr>
              <a:t>I’ll be</a:t>
            </a:r>
            <a:r>
              <a:rPr sz="1300" dirty="0">
                <a:solidFill>
                  <a:srgbClr val="EEEEEE"/>
                </a:solidFill>
                <a:latin typeface="Calibri"/>
              </a:rPr>
              <a:t> inventorying existing bulk RNA-seq</a:t>
            </a:r>
            <a:r>
              <a:rPr lang="en-US" sz="1300" dirty="0">
                <a:solidFill>
                  <a:srgbClr val="EEEEEE"/>
                </a:solidFill>
                <a:latin typeface="Calibri"/>
              </a:rPr>
              <a:t> (and all other sequencing data)</a:t>
            </a:r>
            <a:r>
              <a:rPr sz="1300" dirty="0">
                <a:solidFill>
                  <a:srgbClr val="EEEEEE"/>
                </a:solidFill>
                <a:latin typeface="Calibri"/>
              </a:rPr>
              <a:t>: which donors, tissues, and FASTQs are available?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909CE-A154-FB0D-E1DB-2A8C23567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993A16-0634-F9CB-3D35-C6AF664FCCB6}"/>
              </a:ext>
            </a:extLst>
          </p:cNvPr>
          <p:cNvSpPr/>
          <p:nvPr/>
        </p:nvSpPr>
        <p:spPr>
          <a:xfrm>
            <a:off x="0" y="0"/>
            <a:ext cx="12188952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57729-90F4-455A-DEB9-10A18631D3FB}"/>
              </a:ext>
            </a:extLst>
          </p:cNvPr>
          <p:cNvSpPr/>
          <p:nvPr/>
        </p:nvSpPr>
        <p:spPr>
          <a:xfrm>
            <a:off x="0" y="4114800"/>
            <a:ext cx="12188952" cy="2743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41303B-4023-E0E8-64FA-09425D03C398}"/>
              </a:ext>
            </a:extLst>
          </p:cNvPr>
          <p:cNvSpPr txBox="1"/>
          <p:nvPr/>
        </p:nvSpPr>
        <p:spPr>
          <a:xfrm>
            <a:off x="548640" y="9144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DRG Virome Pipeline Update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3D5B2-2924-9470-FEAE-64B7528E3DD2}"/>
              </a:ext>
            </a:extLst>
          </p:cNvPr>
          <p:cNvSpPr txBox="1"/>
          <p:nvPr/>
        </p:nvSpPr>
        <p:spPr>
          <a:xfrm>
            <a:off x="548640" y="2834640"/>
            <a:ext cx="9601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 dirty="0">
                <a:solidFill>
                  <a:srgbClr val="BBBBBB"/>
                </a:solidFill>
                <a:latin typeface="Calibri"/>
              </a:rPr>
              <a:t>M</a:t>
            </a:r>
            <a:r>
              <a:rPr lang="en-US" sz="1400" b="0" i="0" dirty="0">
                <a:solidFill>
                  <a:srgbClr val="BBBBBB"/>
                </a:solidFill>
                <a:latin typeface="Calibri"/>
              </a:rPr>
              <a:t>ichael Wilde  </a:t>
            </a:r>
            <a:r>
              <a:rPr sz="1400" b="0" i="0" dirty="0">
                <a:solidFill>
                  <a:srgbClr val="BBBBBB"/>
                </a:solidFill>
                <a:latin typeface="Calibri"/>
              </a:rPr>
              <a:t>·  </a:t>
            </a:r>
            <a:r>
              <a:rPr lang="en-US" sz="1400" b="0" i="0" dirty="0">
                <a:solidFill>
                  <a:srgbClr val="BBBBBB"/>
                </a:solidFill>
                <a:latin typeface="Calibri"/>
              </a:rPr>
              <a:t>CAPS</a:t>
            </a:r>
            <a:r>
              <a:rPr sz="1400" b="0" i="0" dirty="0">
                <a:solidFill>
                  <a:srgbClr val="BBBBBB"/>
                </a:solidFill>
                <a:latin typeface="Calibri"/>
              </a:rPr>
              <a:t>  ·  April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E61397-E534-820B-E009-AF41E1ECCC58}"/>
              </a:ext>
            </a:extLst>
          </p:cNvPr>
          <p:cNvSpPr txBox="1"/>
          <p:nvPr/>
        </p:nvSpPr>
        <p:spPr>
          <a:xfrm>
            <a:off x="548640" y="4754880"/>
            <a:ext cx="10972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Questions?</a:t>
            </a:r>
          </a:p>
          <a:p>
            <a:pPr algn="l"/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 algn="l"/>
            <a:endParaRPr lang="en-US" sz="1600" b="1" i="0" dirty="0">
              <a:solidFill>
                <a:srgbClr val="FFFFFF"/>
              </a:solidFill>
              <a:latin typeface="Calibri"/>
            </a:endParaRPr>
          </a:p>
          <a:p>
            <a:pPr algn="l"/>
            <a:endParaRPr lang="en-US" sz="1600" b="1" dirty="0">
              <a:solidFill>
                <a:srgbClr val="FFFFFF"/>
              </a:solidFill>
              <a:latin typeface="Calibri"/>
            </a:endParaRPr>
          </a:p>
          <a:p>
            <a:pPr algn="l"/>
            <a:r>
              <a:rPr lang="en-US" sz="1600" b="1" dirty="0">
                <a:solidFill>
                  <a:srgbClr val="FFFFFF"/>
                </a:solidFill>
                <a:latin typeface="Calibri"/>
              </a:rPr>
              <a:t>Michael.wilde@utdallas.edu</a:t>
            </a:r>
            <a:endParaRPr sz="1600" b="1" i="0" dirty="0">
              <a:solidFill>
                <a:srgbClr val="FFFFFF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87893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1362</Words>
  <Application>Microsoft Office PowerPoint</Application>
  <PresentationFormat>Custom</PresentationFormat>
  <Paragraphs>184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Michael Wilde</dc:creator>
  <cp:keywords/>
  <dc:description>generated using python-pptx</dc:description>
  <cp:lastModifiedBy>Michael Wilde</cp:lastModifiedBy>
  <cp:revision>9</cp:revision>
  <dcterms:created xsi:type="dcterms:W3CDTF">2013-01-27T09:14:16Z</dcterms:created>
  <dcterms:modified xsi:type="dcterms:W3CDTF">2026-04-09T00:03:53Z</dcterms:modified>
  <cp:category/>
</cp:coreProperties>
</file>